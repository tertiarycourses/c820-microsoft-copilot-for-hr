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 for HR</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C820</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29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TRAINER PROFILE · C820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Course Trainer Profiles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4187952"/>
          </a:xfrm>
          <a:prstGeom prst="rect">
            <a:avLst/>
          </a:prstGeom>
          <a:noFill/>
        </p:spPr>
        <p:txBody>
          <a:bodyPr wrap="square" anchor="ctr">
            <a:spAutoFit/>
          </a:bodyPr>
          <a:lstStyle/>
          <a:p>
            <a:pPr algn="l">
              <a:spcAft>
                <a:spcPts val="300"/>
              </a:spcAft>
            </a:pPr>
            <a:r>
              <a:rPr sz="1700" b="1">
                <a:solidFill>
                  <a:srgbClr val="161B26"/>
                </a:solidFill>
                <a:latin typeface="Arial"/>
              </a:rPr>
              <a:t>Assigned Tertiary Infotech Academy Trainer</a:t>
            </a:r>
          </a:p>
          <a:p>
            <a:pPr algn="l">
              <a:spcAft>
                <a:spcPts val="300"/>
              </a:spcAft>
            </a:pPr>
            <a:r>
              <a:rPr sz="1300" b="0">
                <a:solidFill>
                  <a:srgbClr val="5B6372"/>
                </a:solidFill>
                <a:latin typeface="Arial"/>
              </a:rPr>
              <a:t>HR-technology and agentic-AI facilitator who guides human-owned workflow design, evidence-led prompting, fair recruitment support, policy-grounded employee service and practical deployment controls.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MATERIALS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 Course Materials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99132"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913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941832"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Open the C820 course page or the trainer-supplied Drive folder</a:t>
            </a:r>
          </a:p>
        </p:txBody>
      </p:sp>
      <p:sp>
        <p:nvSpPr>
          <p:cNvPr id="12" name="Rectangle 11"/>
          <p:cNvSpPr/>
          <p:nvPr/>
        </p:nvSpPr>
        <p:spPr>
          <a:xfrm>
            <a:off x="4407408"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29300"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9300"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4572000"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Open the courseware links for this course</a:t>
            </a:r>
          </a:p>
        </p:txBody>
      </p:sp>
      <p:sp>
        <p:nvSpPr>
          <p:cNvPr id="17" name="Rectangle 16"/>
          <p:cNvSpPr/>
          <p:nvPr/>
        </p:nvSpPr>
        <p:spPr>
          <a:xfrm>
            <a:off x="8037576"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59468"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59468"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202168"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Download the Slides, Learner Guide and Lesson Plan</a:t>
            </a:r>
          </a:p>
        </p:txBody>
      </p:sp>
      <p:sp>
        <p:nvSpPr>
          <p:cNvPr id="22" name="Rectangle 21"/>
          <p:cNvSpPr/>
          <p:nvPr/>
        </p:nvSpPr>
        <p:spPr>
          <a:xfrm>
            <a:off x="2592324"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92324" y="395020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014216" y="420624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14216"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2756916"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Open the Activities folder for all 6 labs</a:t>
            </a:r>
          </a:p>
        </p:txBody>
      </p:sp>
      <p:sp>
        <p:nvSpPr>
          <p:cNvPr id="27" name="Rectangle 26"/>
          <p:cNvSpPr/>
          <p:nvPr/>
        </p:nvSpPr>
        <p:spPr>
          <a:xfrm>
            <a:off x="6222492"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22492" y="395020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44384" y="420624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44384"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6387084"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Keep the files together as you work</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5" name="TextBox 34"/>
          <p:cNvSpPr txBox="1"/>
          <p:nvPr/>
        </p:nvSpPr>
        <p:spPr>
          <a:xfrm>
            <a:off x="777240" y="5943600"/>
            <a:ext cx="10607040" cy="365760"/>
          </a:xfrm>
          <a:prstGeom prst="rect">
            <a:avLst/>
          </a:prstGeom>
          <a:noFill/>
        </p:spPr>
        <p:txBody>
          <a:bodyPr wrap="square" anchor="t">
            <a:spAutoFit/>
          </a:bodyPr>
          <a:lstStyle/>
          <a:p>
            <a:pPr algn="ctr">
              <a:spcAft>
                <a:spcPts val="400"/>
              </a:spcAft>
            </a:pPr>
            <a:r>
              <a:rPr sz="1200" b="1">
                <a:solidFill>
                  <a:srgbClr val="1F6FEB"/>
                </a:solidFill>
                <a:latin typeface="Arial"/>
              </a:rPr>
              <a:t>Course page:  https://www.tertiarycourses.com.sg/ai-for-hr.html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Lesson Plan — 1 Day, 7.5 instructional hours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format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Prompt, Build and Govern - create a controlled HR-agent portfolio from approved evidence</a:t>
            </a:r>
          </a:p>
          <a:p>
            <a:pPr>
              <a:spcAft>
                <a:spcPts val="1000"/>
              </a:spcAft>
            </a:pPr>
            <a:r>
              <a:rPr sz="1400" b="0">
                <a:solidFill>
                  <a:srgbClr val="5B6372"/>
                </a:solidFill>
                <a:latin typeface="Arial"/>
              </a:rPr>
              <a:t>–  Topic 1: Get Started with AI for HR (Labs 1–2)</a:t>
            </a:r>
          </a:p>
          <a:p>
            <a:pPr>
              <a:spcAft>
                <a:spcPts val="1000"/>
              </a:spcAft>
            </a:pPr>
            <a:r>
              <a:rPr sz="1400" b="0">
                <a:solidFill>
                  <a:srgbClr val="5B6372"/>
                </a:solidFill>
                <a:latin typeface="Arial"/>
              </a:rPr>
              <a:t>–  Topic 2: Build HR AI Agents (Labs 3–4)</a:t>
            </a:r>
          </a:p>
          <a:p>
            <a:pPr>
              <a:spcAft>
                <a:spcPts val="1000"/>
              </a:spcAft>
            </a:pPr>
            <a:r>
              <a:rPr sz="1400" b="0">
                <a:solidFill>
                  <a:srgbClr val="5B6372"/>
                </a:solidFill>
                <a:latin typeface="Arial"/>
              </a:rPr>
              <a:t>–  Topic 3: Deploy Agentic AI Across the HR Function (Labs 5–6)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 am-6:30 pm (1-hour lunch; two 15-minute tea breaks; 7.5 instructional hours)</a:t>
            </a:r>
          </a:p>
          <a:p>
            <a:pPr>
              <a:spcAft>
                <a:spcPts val="1000"/>
              </a:spcAft>
            </a:pPr>
            <a:r>
              <a:rPr sz="1600" b="0">
                <a:solidFill>
                  <a:srgbClr val="161B26"/>
                </a:solidFill>
                <a:latin typeface="Arial"/>
              </a:rPr>
              <a:t>•  Instructional time</a:t>
            </a:r>
          </a:p>
          <a:p>
            <a:pPr>
              <a:spcAft>
                <a:spcPts val="1000"/>
              </a:spcAft>
            </a:pPr>
            <a:r>
              <a:rPr sz="1400" b="0">
                <a:solidFill>
                  <a:srgbClr val="5B6372"/>
                </a:solidFill>
                <a:latin typeface="Arial"/>
              </a:rPr>
              <a:t>–  7.5 hours · 6 connected labs</a:t>
            </a:r>
          </a:p>
          <a:p>
            <a:pPr>
              <a:spcAft>
                <a:spcPts val="1000"/>
              </a:spcAft>
            </a:pPr>
            <a:r>
              <a:rPr sz="1600" b="0">
                <a:solidFill>
                  <a:srgbClr val="161B26"/>
                </a:solidFill>
                <a:latin typeface="Arial"/>
              </a:rPr>
              <a:t>•  Learning arc</a:t>
            </a:r>
          </a:p>
          <a:p>
            <a:pPr>
              <a:spcAft>
                <a:spcPts val="1000"/>
              </a:spcAft>
            </a:pPr>
            <a:r>
              <a:rPr sz="1400" b="0">
                <a:solidFill>
                  <a:srgbClr val="5B6372"/>
                </a:solidFill>
                <a:latin typeface="Arial"/>
              </a:rPr>
              <a:t>–  Concept → demonstrate → build → verify → discuss → recap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Prompt &amp; Ground</a:t>
            </a:r>
          </a:p>
          <a:p>
            <a:pPr algn="l">
              <a:spcAft>
                <a:spcPts val="300"/>
              </a:spcAft>
            </a:pPr>
            <a:r>
              <a:rPr sz="1300" b="0">
                <a:solidFill>
                  <a:srgbClr val="5B6372"/>
                </a:solidFill>
                <a:latin typeface="Arial"/>
              </a:rPr>
              <a:t>Use an approved AI assistant with a structured prompt, source boundary and human review method for everyday HR 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Design HR Agents</a:t>
            </a:r>
          </a:p>
          <a:p>
            <a:pPr algn="l">
              <a:spcAft>
                <a:spcPts val="300"/>
              </a:spcAft>
            </a:pPr>
            <a:r>
              <a:rPr sz="1300" b="0">
                <a:solidFill>
                  <a:srgbClr val="5B6372"/>
                </a:solidFill>
                <a:latin typeface="Arial"/>
              </a:rPr>
              <a:t>Design bounded recruitment, onboarding, employee-support and communication agents with job-related criteria and explicit human decisions.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Automate &amp; Verify</a:t>
            </a:r>
          </a:p>
          <a:p>
            <a:pPr algn="l">
              <a:spcAft>
                <a:spcPts val="300"/>
              </a:spcAft>
            </a:pPr>
            <a:r>
              <a:rPr sz="1300" b="0">
                <a:solidFill>
                  <a:srgbClr val="5B6372"/>
                </a:solidFill>
                <a:latin typeface="Arial"/>
              </a:rPr>
              <a:t>Build and test a multi-step HR workflow that connects approved data and tools while preserving exceptions, approvals and run evidence.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Govern &amp; Roll Out</a:t>
            </a:r>
          </a:p>
          <a:p>
            <a:pPr algn="l">
              <a:spcAft>
                <a:spcPts val="300"/>
              </a:spcAft>
            </a:pPr>
            <a:r>
              <a:rPr sz="1300" b="0">
                <a:solidFill>
                  <a:srgbClr val="5B6372"/>
                </a:solidFill>
                <a:latin typeface="Arial"/>
              </a:rPr>
              <a:t>Evaluate privacy, fairness, security and operating risk, then produce a staged rollout plan with owners, metrics, monitoring and fallback.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99132"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913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941832"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Trainer demonstrates the concept</a:t>
            </a:r>
          </a:p>
        </p:txBody>
      </p:sp>
      <p:sp>
        <p:nvSpPr>
          <p:cNvPr id="12" name="Rectangle 11"/>
          <p:cNvSpPr/>
          <p:nvPr/>
        </p:nvSpPr>
        <p:spPr>
          <a:xfrm>
            <a:off x="4407408"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29300"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9300"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4572000"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You build it yourself in the hands-on lab</a:t>
            </a:r>
          </a:p>
        </p:txBody>
      </p:sp>
      <p:sp>
        <p:nvSpPr>
          <p:cNvPr id="17" name="Rectangle 16"/>
          <p:cNvSpPr/>
          <p:nvPr/>
        </p:nvSpPr>
        <p:spPr>
          <a:xfrm>
            <a:off x="8037576"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59468"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59468"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202168"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Verify with the lab's 'Test it' step</a:t>
            </a:r>
          </a:p>
        </p:txBody>
      </p:sp>
      <p:sp>
        <p:nvSpPr>
          <p:cNvPr id="22" name="Rectangle 21"/>
          <p:cNvSpPr/>
          <p:nvPr/>
        </p:nvSpPr>
        <p:spPr>
          <a:xfrm>
            <a:off x="2592324"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92324" y="395020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014216" y="420624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14216"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2756916"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Discuss and troubleshoot together</a:t>
            </a:r>
          </a:p>
        </p:txBody>
      </p:sp>
      <p:sp>
        <p:nvSpPr>
          <p:cNvPr id="27" name="Rectangle 26"/>
          <p:cNvSpPr/>
          <p:nvPr/>
        </p:nvSpPr>
        <p:spPr>
          <a:xfrm>
            <a:off x="6222492"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22492" y="395020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44384" y="420624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44384"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6387084"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Recap against the learning outcomes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The Human-Owned HR Agent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Four Boundaries Before Any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Purpose boundary</a:t>
            </a:r>
          </a:p>
          <a:p>
            <a:pPr algn="l">
              <a:spcAft>
                <a:spcPts val="300"/>
              </a:spcAft>
            </a:pPr>
            <a:r>
              <a:rPr sz="1300" b="0">
                <a:solidFill>
                  <a:srgbClr val="5B6372"/>
                </a:solidFill>
                <a:latin typeface="Arial"/>
              </a:rPr>
              <a:t>Define the HR outcome, affected people, non-goals and accountable owner.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Evidence boundary</a:t>
            </a:r>
          </a:p>
          <a:p>
            <a:pPr algn="l">
              <a:spcAft>
                <a:spcPts val="300"/>
              </a:spcAft>
            </a:pPr>
            <a:r>
              <a:rPr sz="1300" b="0">
                <a:solidFill>
                  <a:srgbClr val="5B6372"/>
                </a:solidFill>
                <a:latin typeface="Arial"/>
              </a:rPr>
              <a:t>Use necessary approved sources with version, owner and lineage.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Action boundary</a:t>
            </a:r>
          </a:p>
          <a:p>
            <a:pPr algn="l">
              <a:spcAft>
                <a:spcPts val="300"/>
              </a:spcAft>
            </a:pPr>
            <a:r>
              <a:rPr sz="1300" b="0">
                <a:solidFill>
                  <a:srgbClr val="5B6372"/>
                </a:solidFill>
                <a:latin typeface="Arial"/>
              </a:rPr>
              <a:t>Separate read, draft, recommend, approve and execute permissions.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Decision boundary</a:t>
            </a:r>
          </a:p>
          <a:p>
            <a:pPr algn="l">
              <a:spcAft>
                <a:spcPts val="300"/>
              </a:spcAft>
            </a:pPr>
            <a:r>
              <a:rPr sz="1300" b="0">
                <a:solidFill>
                  <a:srgbClr val="5B6372"/>
                </a:solidFill>
                <a:latin typeface="Arial"/>
              </a:rPr>
              <a:t>Keep consequential people decisions with an authorised human who can change the result.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 Controlled HR-Agent Run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Receive</a:t>
            </a:r>
          </a:p>
          <a:p>
            <a:pPr algn="l">
              <a:spcAft>
                <a:spcPts val="300"/>
              </a:spcAft>
            </a:pPr>
            <a:r>
              <a:rPr sz="1200" b="0">
                <a:solidFill>
                  <a:srgbClr val="5B6372"/>
                </a:solidFill>
                <a:latin typeface="Arial"/>
              </a:rPr>
              <a:t>Validate requester, purpose, case and permitted data.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Ground</a:t>
            </a:r>
          </a:p>
          <a:p>
            <a:pPr algn="l">
              <a:spcAft>
                <a:spcPts val="300"/>
              </a:spcAft>
            </a:pPr>
            <a:r>
              <a:rPr sz="1200" b="0">
                <a:solidFill>
                  <a:srgbClr val="5B6372"/>
                </a:solidFill>
                <a:latin typeface="Arial"/>
              </a:rPr>
              <a:t>Retrieve the current approved role, policy or workflow source.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a:t>
            </a:r>
          </a:p>
          <a:p>
            <a:pPr algn="l">
              <a:spcAft>
                <a:spcPts val="300"/>
              </a:spcAft>
            </a:pPr>
            <a:r>
              <a:rPr sz="1200" b="0">
                <a:solidFill>
                  <a:srgbClr val="5B6372"/>
                </a:solidFill>
                <a:latin typeface="Arial"/>
              </a:rPr>
              <a:t>Apply fixed rules and bounded model tasks.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Review</a:t>
            </a:r>
          </a:p>
          <a:p>
            <a:pPr algn="l">
              <a:spcAft>
                <a:spcPts val="300"/>
              </a:spcAft>
            </a:pPr>
            <a:r>
              <a:rPr sz="1200" b="0">
                <a:solidFill>
                  <a:srgbClr val="5B6372"/>
                </a:solidFill>
                <a:latin typeface="Arial"/>
              </a:rPr>
              <a:t>Check evidence, fairness, privacy, tone and action authority.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Decide</a:t>
            </a:r>
          </a:p>
          <a:p>
            <a:pPr algn="l">
              <a:spcAft>
                <a:spcPts val="300"/>
              </a:spcAft>
            </a:pPr>
            <a:r>
              <a:rPr sz="1200" b="0">
                <a:solidFill>
                  <a:srgbClr val="5B6372"/>
                </a:solidFill>
                <a:latin typeface="Arial"/>
              </a:rPr>
              <a:t>A named human approves, edits, escalates or stops.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Record</a:t>
            </a:r>
          </a:p>
          <a:p>
            <a:pPr algn="l">
              <a:spcAft>
                <a:spcPts val="300"/>
              </a:spcAft>
            </a:pPr>
            <a:r>
              <a:rPr sz="1200" b="0">
                <a:solidFill>
                  <a:srgbClr val="5B6372"/>
                </a:solidFill>
                <a:latin typeface="Arial"/>
              </a:rPr>
              <a:t>Retain sources, checks, decision, action and final status.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COURSE OPERATING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Use AI to organise HR work - never to hide how a people decision was made.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material claim has a source, every exception has an owner and every consequential decision remains human-owned.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Foundation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HR use-case and control canvas</a:t>
            </a:r>
          </a:p>
          <a:p>
            <a:pPr>
              <a:spcAft>
                <a:spcPts val="900"/>
              </a:spcAft>
            </a:pPr>
            <a:r>
              <a:rPr sz="1400" b="0">
                <a:solidFill>
                  <a:srgbClr val="161B26"/>
                </a:solidFill>
                <a:latin typeface="Arial"/>
              </a:rPr>
              <a:t>•  grounded prompt and source pack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HR Agents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recruitment evidence assistant</a:t>
            </a:r>
          </a:p>
          <a:p>
            <a:pPr>
              <a:spcAft>
                <a:spcPts val="900"/>
              </a:spcAft>
            </a:pPr>
            <a:r>
              <a:rPr sz="1400" b="0">
                <a:solidFill>
                  <a:srgbClr val="161B26"/>
                </a:solidFill>
                <a:latin typeface="Arial"/>
              </a:rPr>
              <a:t>•  onboarding and employee-support pack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Deployment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multi-step workflow simulation</a:t>
            </a:r>
          </a:p>
          <a:p>
            <a:pPr>
              <a:spcAft>
                <a:spcPts val="900"/>
              </a:spcAft>
            </a:pPr>
            <a:r>
              <a:rPr sz="1400" b="0">
                <a:solidFill>
                  <a:srgbClr val="161B26"/>
                </a:solidFill>
                <a:latin typeface="Arial"/>
              </a:rPr>
              <a:t>•  governance test and rollout plan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Open the approved synthetic Asteron People Operations checkpoint.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Apply a prompt contract, rubric or workflow rule to bounded inputs.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Separate source facts, model output, deterministic checks and human decisions.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Run the observable Test It checks and repair defects.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Save the evidence and rejoin checkpoint for the next lab.</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CONCEPT DEEP DIVE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Assistant, Automation or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Assistant</a:t>
            </a:r>
          </a:p>
          <a:p>
            <a:pPr algn="l">
              <a:spcAft>
                <a:spcPts val="300"/>
              </a:spcAft>
            </a:pPr>
            <a:r>
              <a:rPr sz="1200" b="0">
                <a:solidFill>
                  <a:srgbClr val="5B6372"/>
                </a:solidFill>
                <a:latin typeface="Arial"/>
              </a:rPr>
              <a:t>A person chooses each request and decides what to do with the answer.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Automation</a:t>
            </a:r>
          </a:p>
          <a:p>
            <a:pPr algn="l">
              <a:spcAft>
                <a:spcPts val="300"/>
              </a:spcAft>
            </a:pPr>
            <a:r>
              <a:rPr sz="1200" b="0">
                <a:solidFill>
                  <a:srgbClr val="5B6372"/>
                </a:solidFill>
                <a:latin typeface="Arial"/>
              </a:rPr>
              <a:t>Fixed rules execute a known sequence with predictable branches.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Agent</a:t>
            </a:r>
          </a:p>
          <a:p>
            <a:pPr algn="l">
              <a:spcAft>
                <a:spcPts val="300"/>
              </a:spcAft>
            </a:pPr>
            <a:r>
              <a:rPr sz="1200" b="0">
                <a:solidFill>
                  <a:srgbClr val="5B6372"/>
                </a:solidFill>
                <a:latin typeface="Arial"/>
              </a:rPr>
              <a:t>A model chooses among approved next actions inside explicit limits.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Design rule</a:t>
            </a:r>
          </a:p>
          <a:p>
            <a:pPr algn="l">
              <a:spcAft>
                <a:spcPts val="300"/>
              </a:spcAft>
            </a:pPr>
            <a:r>
              <a:rPr sz="1200" b="0">
                <a:solidFill>
                  <a:srgbClr val="5B6372"/>
                </a:solidFill>
                <a:latin typeface="Arial"/>
              </a:rPr>
              <a:t>Use the least autonomy that meets the HR need.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CONCEPT DEEP DIVE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HR Evidence Stack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Authoritative source</a:t>
            </a:r>
          </a:p>
          <a:p>
            <a:pPr algn="l">
              <a:spcAft>
                <a:spcPts val="300"/>
              </a:spcAft>
            </a:pPr>
            <a:r>
              <a:rPr sz="1200" b="0">
                <a:solidFill>
                  <a:srgbClr val="5B6372"/>
                </a:solidFill>
                <a:latin typeface="Arial"/>
              </a:rPr>
              <a:t>Current role, policy, record or approved process definition.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Deterministic layer</a:t>
            </a:r>
          </a:p>
          <a:p>
            <a:pPr algn="l">
              <a:spcAft>
                <a:spcPts val="300"/>
              </a:spcAft>
            </a:pPr>
            <a:r>
              <a:rPr sz="1200" b="0">
                <a:solidFill>
                  <a:srgbClr val="5B6372"/>
                </a:solidFill>
                <a:latin typeface="Arial"/>
              </a:rPr>
              <a:t>Required fields, dates, identifiers, formulas, thresholds and routing.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Model layer</a:t>
            </a:r>
          </a:p>
          <a:p>
            <a:pPr algn="l">
              <a:spcAft>
                <a:spcPts val="300"/>
              </a:spcAft>
            </a:pPr>
            <a:r>
              <a:rPr sz="1200" b="0">
                <a:solidFill>
                  <a:srgbClr val="5B6372"/>
                </a:solidFill>
                <a:latin typeface="Arial"/>
              </a:rPr>
              <a:t>Extraction, classification, drafting, critique and exception explanation.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Decision layer</a:t>
            </a:r>
          </a:p>
          <a:p>
            <a:pPr algn="l">
              <a:spcAft>
                <a:spcPts val="300"/>
              </a:spcAft>
            </a:pPr>
            <a:r>
              <a:rPr sz="1200" b="0">
                <a:solidFill>
                  <a:srgbClr val="5B6372"/>
                </a:solidFill>
                <a:latin typeface="Arial"/>
              </a:rPr>
              <a:t>Named human authority, reason, communication and controlled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CONCEPT DEEP DIVE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Five Human Review Questions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Which approved source supports each material statement?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Fairness</a:t>
            </a:r>
          </a:p>
          <a:p>
            <a:pPr algn="l">
              <a:spcAft>
                <a:spcPts val="300"/>
              </a:spcAft>
            </a:pPr>
            <a:r>
              <a:rPr sz="1200" b="0">
                <a:solidFill>
                  <a:srgbClr val="5B6372"/>
                </a:solidFill>
                <a:latin typeface="Arial"/>
              </a:rPr>
              <a:t>Are criteria job-related, consistent and free of unsupported inference?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Privacy</a:t>
            </a:r>
          </a:p>
          <a:p>
            <a:pPr algn="l">
              <a:spcAft>
                <a:spcPts val="300"/>
              </a:spcAft>
            </a:pPr>
            <a:r>
              <a:rPr sz="1200" b="0">
                <a:solidFill>
                  <a:srgbClr val="5B6372"/>
                </a:solidFill>
                <a:latin typeface="Arial"/>
              </a:rPr>
              <a:t>Is each data field necessary and handled in an approved service?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Authority</a:t>
            </a:r>
          </a:p>
          <a:p>
            <a:pPr algn="l">
              <a:spcAft>
                <a:spcPts val="300"/>
              </a:spcAft>
            </a:pPr>
            <a:r>
              <a:rPr sz="1200" b="0">
                <a:solidFill>
                  <a:srgbClr val="5B6372"/>
                </a:solidFill>
                <a:latin typeface="Arial"/>
              </a:rPr>
              <a:t>May this system only draft, or may it take the proposed action?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Recourse</a:t>
            </a:r>
          </a:p>
          <a:p>
            <a:pPr algn="l">
              <a:spcAft>
                <a:spcPts val="300"/>
              </a:spcAft>
            </a:pPr>
            <a:r>
              <a:rPr sz="1200" b="0">
                <a:solidFill>
                  <a:srgbClr val="5B6372"/>
                </a:solidFill>
                <a:latin typeface="Arial"/>
              </a:rPr>
              <a:t>Can the affected person or operator question and correct the result?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 Started with AI for HR</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AI and agentic AI use cases - tools and platforms - effective prompting - approved HR data and documents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Morning - 2 connected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Get Started with AI for HR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Assistant, automation, agent</a:t>
            </a:r>
          </a:p>
          <a:p>
            <a:pPr algn="l">
              <a:spcAft>
                <a:spcPts val="300"/>
              </a:spcAft>
            </a:pPr>
            <a:r>
              <a:rPr sz="1200" b="0">
                <a:solidFill>
                  <a:srgbClr val="5B6372"/>
                </a:solidFill>
                <a:latin typeface="Arial"/>
              </a:rPr>
              <a:t>Choose the least autonomous pattern that can complete the HR job reliably.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Human-owned purpose</a:t>
            </a:r>
          </a:p>
          <a:p>
            <a:pPr algn="l">
              <a:spcAft>
                <a:spcPts val="300"/>
              </a:spcAft>
            </a:pPr>
            <a:r>
              <a:rPr sz="1200" b="0">
                <a:solidFill>
                  <a:srgbClr val="5B6372"/>
                </a:solidFill>
                <a:latin typeface="Arial"/>
              </a:rPr>
              <a:t>Name the employee or candidate outcome, process owner and decision that remains human.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Prompt contract</a:t>
            </a:r>
          </a:p>
          <a:p>
            <a:pPr algn="l">
              <a:spcAft>
                <a:spcPts val="300"/>
              </a:spcAft>
            </a:pPr>
            <a:r>
              <a:rPr sz="1200" b="0">
                <a:solidFill>
                  <a:srgbClr val="5B6372"/>
                </a:solidFill>
                <a:latin typeface="Arial"/>
              </a:rPr>
              <a:t>State goal, context, criteria, sources, output, review and escalation before using a model.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Grounded evidence</a:t>
            </a:r>
          </a:p>
          <a:p>
            <a:pPr algn="l">
              <a:spcAft>
                <a:spcPts val="300"/>
              </a:spcAft>
            </a:pPr>
            <a:r>
              <a:rPr sz="1200" b="0">
                <a:solidFill>
                  <a:srgbClr val="5B6372"/>
                </a:solidFill>
                <a:latin typeface="Arial"/>
              </a:rPr>
              <a:t>Constrain material claims to approved policy, role and case sources and preserve their identifiers.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minimisation</a:t>
            </a:r>
          </a:p>
          <a:p>
            <a:pPr algn="l">
              <a:spcAft>
                <a:spcPts val="300"/>
              </a:spcAft>
            </a:pPr>
            <a:r>
              <a:rPr sz="1200" b="0">
                <a:solidFill>
                  <a:srgbClr val="5B6372"/>
                </a:solidFill>
                <a:latin typeface="Arial"/>
              </a:rPr>
              <a:t>Use synthetic or necessary authorised fields and keep confidential or sensitive data out of unapproved tools.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Observable quality</a:t>
            </a:r>
          </a:p>
          <a:p>
            <a:pPr algn="l">
              <a:spcAft>
                <a:spcPts val="300"/>
              </a:spcAft>
            </a:pPr>
            <a:r>
              <a:rPr sz="1200" b="0">
                <a:solidFill>
                  <a:srgbClr val="5B6372"/>
                </a:solidFill>
                <a:latin typeface="Arial"/>
              </a:rPr>
              <a:t>Define acceptance checks before comparing model outputs or platforms.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 and Agentic AI in HR: Use Cases and Landscape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Generative AI produces or transforms language and other content from instructions and context. An AI assistant responds to a person, a deterministic automation follows fixed rules, and an agent lets a model choose among approved next steps and tools inside a bounded workflow.</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HR work combines high-volume drafting with decisions that affect people. Separating assistance, automation and agency prevents a fluent tool from being given authority that belongs to an HR professional, hiring manager, data owner or employee.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AI and Agentic AI in HR: Use Cases and Landscape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99132" y="201168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913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941832"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Define the HR outcome, affected people, process owner and authoritative sources.</a:t>
            </a:r>
          </a:p>
        </p:txBody>
      </p:sp>
      <p:sp>
        <p:nvSpPr>
          <p:cNvPr id="12" name="Rectangle 11"/>
          <p:cNvSpPr/>
          <p:nvPr/>
        </p:nvSpPr>
        <p:spPr>
          <a:xfrm>
            <a:off x="4407408"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75564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29300" y="201168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9300"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4572000"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Classify each step as fixed rule, model-supported judgement or human decision.</a:t>
            </a:r>
          </a:p>
        </p:txBody>
      </p:sp>
      <p:sp>
        <p:nvSpPr>
          <p:cNvPr id="17" name="Rectangle 16"/>
          <p:cNvSpPr/>
          <p:nvPr/>
        </p:nvSpPr>
        <p:spPr>
          <a:xfrm>
            <a:off x="8037576"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5564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59468" y="201168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59468"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202168"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Grant only the data and tools required for the current step.</a:t>
            </a:r>
          </a:p>
        </p:txBody>
      </p:sp>
      <p:sp>
        <p:nvSpPr>
          <p:cNvPr id="22" name="Rectangle 21"/>
          <p:cNvSpPr/>
          <p:nvPr/>
        </p:nvSpPr>
        <p:spPr>
          <a:xfrm>
            <a:off x="2592324"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92324" y="395020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014216" y="420624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14216"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2756916"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Set completion, uncertainty, exception, time and action limits.</a:t>
            </a:r>
          </a:p>
        </p:txBody>
      </p:sp>
      <p:sp>
        <p:nvSpPr>
          <p:cNvPr id="27" name="Rectangle 26"/>
          <p:cNvSpPr/>
          <p:nvPr/>
        </p:nvSpPr>
        <p:spPr>
          <a:xfrm>
            <a:off x="6222492"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22492" y="395020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44384" y="420624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44384"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6387084"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Retain the source, output, checks, edits, decision and final status as run evidence.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AI and Agentic AI in HR: Use Cases and Landscape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Asteron Services wants faster onboarding support for new employees.</a:t>
            </a:r>
          </a:p>
          <a:p>
            <a:pPr>
              <a:spcAft>
                <a:spcPts val="1000"/>
              </a:spcAft>
            </a:pPr>
            <a:r>
              <a:rPr sz="1600" b="0">
                <a:solidFill>
                  <a:srgbClr val="161B26"/>
                </a:solidFill>
                <a:latin typeface="Arial"/>
              </a:rPr>
              <a:t>•  A deterministic rule identifies the employee's country and start date; an assistant drafts a policy-grounded reply.</a:t>
            </a:r>
          </a:p>
          <a:p>
            <a:pPr>
              <a:spcAft>
                <a:spcPts val="1000"/>
              </a:spcAft>
            </a:pPr>
            <a:r>
              <a:rPr sz="1600" b="0">
                <a:solidFill>
                  <a:srgbClr val="161B26"/>
                </a:solidFill>
                <a:latin typeface="Arial"/>
              </a:rPr>
              <a:t>•  A named HR owner reviews exceptions and any message about eligibility, conduct, pay or personal circumstances.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task contains repeated language work, unstructured documents or exceptions that fixed rules handle poorly.</a:t>
            </a:r>
          </a:p>
          <a:p>
            <a:pPr>
              <a:spcAft>
                <a:spcPts val="1000"/>
              </a:spcAft>
            </a:pPr>
            <a:r>
              <a:rPr sz="1400" b="0">
                <a:solidFill>
                  <a:srgbClr val="5B6372"/>
                </a:solidFill>
                <a:latin typeface="Arial"/>
              </a:rPr>
              <a:t>–  A clear source boundary, observable checks and accountable reviewer can be defined.</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template, search filter or spreadsheet rule solves the task more simply and predictably.</a:t>
            </a:r>
          </a:p>
          <a:p>
            <a:pPr>
              <a:spcAft>
                <a:spcPts val="1000"/>
              </a:spcAft>
            </a:pPr>
            <a:r>
              <a:rPr sz="1400" b="0">
                <a:solidFill>
                  <a:srgbClr val="5B6372"/>
                </a:solidFill>
                <a:latin typeface="Arial"/>
              </a:rPr>
              <a:t>–  The system would make an adverse or irreversible people decision without meaningful human review.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AI and Agentic AI in HR: Use Cases and Landscape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Bounded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Purpose, sources, tools, limits, stop conditions and fallback are explicit.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Grounded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Material statements trace to approved facts or rules.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Accountable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named role owns the final people decision and communication.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Popular AI Tools and Agent Platforms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HR teams can work with browser assistants such as ChatGPT or Claude, configurable workspace agents, low-code platforms such as Copilot Studio, or custom software. The options combine models, instructions, knowledge and tools but differ in data handling, integration, testing, identity, observability, cost and operating skill.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Choosing a product before defining the use case encourages feature-led adoption. A task-and-risk comparison makes the platform decision explainable and avoids connecting broad HR repositories to a prototype that needs only a synthetic policy extract.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Popular AI Tools and Agent Platforms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99132" y="201168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913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941832"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Start with the HR job, data class, actions, users, volume and acceptable failure mode.</a:t>
            </a:r>
          </a:p>
        </p:txBody>
      </p:sp>
      <p:sp>
        <p:nvSpPr>
          <p:cNvPr id="12" name="Rectangle 11"/>
          <p:cNvSpPr/>
          <p:nvPr/>
        </p:nvSpPr>
        <p:spPr>
          <a:xfrm>
            <a:off x="4407408"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75564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29300" y="201168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9300"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4572000"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Prototype a prompt with synthetic sources in an approved supervised assistant.</a:t>
            </a:r>
          </a:p>
        </p:txBody>
      </p:sp>
      <p:sp>
        <p:nvSpPr>
          <p:cNvPr id="17" name="Rectangle 16"/>
          <p:cNvSpPr/>
          <p:nvPr/>
        </p:nvSpPr>
        <p:spPr>
          <a:xfrm>
            <a:off x="8037576"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5564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59468" y="201168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59468"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202168" y="2633472"/>
            <a:ext cx="3044952" cy="1005840"/>
          </a:xfrm>
          <a:prstGeom prst="rect">
            <a:avLst/>
          </a:prstGeom>
          <a:noFill/>
        </p:spPr>
        <p:txBody>
          <a:bodyPr wrap="square" anchor="ctr">
            <a:spAutoFit/>
          </a:bodyPr>
          <a:lstStyle/>
          <a:p>
            <a:pPr algn="ctr">
              <a:spcAft>
                <a:spcPts val="400"/>
              </a:spcAft>
            </a:pPr>
            <a:r>
              <a:rPr sz="1300" b="0">
                <a:solidFill>
                  <a:srgbClr val="161B26"/>
                </a:solidFill>
                <a:latin typeface="Arial"/>
              </a:rPr>
              <a:t>Move to a workspace agent when reusable instructions and governed knowledge are sufficient.</a:t>
            </a:r>
          </a:p>
        </p:txBody>
      </p:sp>
      <p:sp>
        <p:nvSpPr>
          <p:cNvPr id="22" name="Rectangle 21"/>
          <p:cNvSpPr/>
          <p:nvPr/>
        </p:nvSpPr>
        <p:spPr>
          <a:xfrm>
            <a:off x="2592324"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92324" y="395020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014216" y="420624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14216"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2756916"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Use low-code flow tooling for triggers, connectors, branching, approvals and monitoring.</a:t>
            </a:r>
          </a:p>
        </p:txBody>
      </p:sp>
      <p:sp>
        <p:nvSpPr>
          <p:cNvPr id="27" name="Rectangle 26"/>
          <p:cNvSpPr/>
          <p:nvPr/>
        </p:nvSpPr>
        <p:spPr>
          <a:xfrm>
            <a:off x="6222492"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22492" y="395020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44384" y="420624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44384"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6387084" y="4828032"/>
            <a:ext cx="3044952" cy="1005840"/>
          </a:xfrm>
          <a:prstGeom prst="rect">
            <a:avLst/>
          </a:prstGeom>
          <a:noFill/>
        </p:spPr>
        <p:txBody>
          <a:bodyPr wrap="square" anchor="ctr">
            <a:spAutoFit/>
          </a:bodyPr>
          <a:lstStyle/>
          <a:p>
            <a:pPr algn="ctr">
              <a:spcAft>
                <a:spcPts val="400"/>
              </a:spcAft>
            </a:pPr>
            <a:r>
              <a:rPr sz="1300" b="0">
                <a:solidFill>
                  <a:srgbClr val="161B26"/>
                </a:solidFill>
                <a:latin typeface="Arial"/>
              </a:rPr>
              <a:t>Use custom development only when identity, tools, evaluation, telemetry or isolation require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Popular AI Tools and Agent Platforms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one-off job-description critique stays in a supervised assistant with a synthetic role brief.</a:t>
            </a:r>
          </a:p>
          <a:p>
            <a:pPr>
              <a:spcAft>
                <a:spcPts val="1000"/>
              </a:spcAft>
            </a:pPr>
            <a:r>
              <a:rPr sz="1600" b="0">
                <a:solidFill>
                  <a:srgbClr val="161B26"/>
                </a:solidFill>
                <a:latin typeface="Arial"/>
              </a:rPr>
              <a:t>•  A reusable employee-policy helper uses approved knowledge and read-only access.</a:t>
            </a:r>
          </a:p>
          <a:p>
            <a:pPr>
              <a:spcAft>
                <a:spcPts val="1000"/>
              </a:spcAft>
            </a:pPr>
            <a:r>
              <a:rPr sz="1600" b="0">
                <a:solidFill>
                  <a:srgbClr val="161B26"/>
                </a:solidFill>
                <a:latin typeface="Arial"/>
              </a:rPr>
              <a:t>•  An onboarding workflow uses a flow platform because it needs triggers, record lookups, tasks, approvals and run history.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Comparing platforms against an already documented HR workflow and control matrix.</a:t>
            </a:r>
          </a:p>
          <a:p>
            <a:pPr>
              <a:spcAft>
                <a:spcPts val="1000"/>
              </a:spcAft>
            </a:pPr>
            <a:r>
              <a:rPr sz="1400" b="0">
                <a:solidFill>
                  <a:srgbClr val="5B6372"/>
                </a:solidFill>
                <a:latin typeface="Arial"/>
              </a:rPr>
              <a:t>–  The organisation can confirm approved services, data locations, identities and support ownership.</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Selecting the tool with the most connectors or the highest apparent autonomy.</a:t>
            </a:r>
          </a:p>
          <a:p>
            <a:pPr>
              <a:spcAft>
                <a:spcPts val="1000"/>
              </a:spcAft>
            </a:pPr>
            <a:r>
              <a:rPr sz="1400" b="0">
                <a:solidFill>
                  <a:srgbClr val="5B6372"/>
                </a:solidFill>
                <a:latin typeface="Arial"/>
              </a:rPr>
              <a:t>–  Allowing inherited user permissions to expose unrelated employee or candidate records.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Popular AI Tools and Agent Platforms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Fit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Workflow and risk needs drive the tool choice.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Control</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Identity, data, actions and environments can be restricted.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Visibility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Versions, runs, failures, approvals and costs can be inspected.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Effective Prompting for HR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HR prompt is a working contract. This course uses G-C-C-S-O-R: Goal, Context, Criteria, Sources, Output and Review. The contract separates stable instructions from case variables, defines the evidence boundary and makes the desired result testable.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Requests such as 'screen these resumes' or 'write an onboarding email' hide the selection basis, source truth and acceptance checks. A structured prompt reduces generic output and makes unsupported claims, missing facts and inappropriate inferences easier to detect.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Effective Prompting for HR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99132" y="201168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913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941832"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State one HR goal, intended reader and permitted decision support.</a:t>
            </a:r>
          </a:p>
        </p:txBody>
      </p:sp>
      <p:sp>
        <p:nvSpPr>
          <p:cNvPr id="12" name="Rectangle 11"/>
          <p:cNvSpPr/>
          <p:nvPr/>
        </p:nvSpPr>
        <p:spPr>
          <a:xfrm>
            <a:off x="4407408"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75564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29300" y="201168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9300"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4572000"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Provide only relevant context and label each approved source with a stable identifier.</a:t>
            </a:r>
          </a:p>
        </p:txBody>
      </p:sp>
      <p:sp>
        <p:nvSpPr>
          <p:cNvPr id="17" name="Rectangle 16"/>
          <p:cNvSpPr/>
          <p:nvPr/>
        </p:nvSpPr>
        <p:spPr>
          <a:xfrm>
            <a:off x="8037576"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5564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59468" y="201168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59468"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202168"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Define job-related or policy-based criteria before asking for analysis.</a:t>
            </a:r>
          </a:p>
        </p:txBody>
      </p:sp>
      <p:sp>
        <p:nvSpPr>
          <p:cNvPr id="22" name="Rectangle 21"/>
          <p:cNvSpPr/>
          <p:nvPr/>
        </p:nvSpPr>
        <p:spPr>
          <a:xfrm>
            <a:off x="777240"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95020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199132" y="420624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9132"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941832"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Specify output fields for facts, source, uncertainty, recommendation and human action.</a:t>
            </a:r>
          </a:p>
        </p:txBody>
      </p:sp>
      <p:sp>
        <p:nvSpPr>
          <p:cNvPr id="27" name="Rectangle 26"/>
          <p:cNvSpPr/>
          <p:nvPr/>
        </p:nvSpPr>
        <p:spPr>
          <a:xfrm>
            <a:off x="4407408"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07408" y="395020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829300" y="420624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29300"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4572000"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Require UNKNOWN, clarification or escalation when evidence is absent.</a:t>
            </a:r>
          </a:p>
        </p:txBody>
      </p:sp>
      <p:sp>
        <p:nvSpPr>
          <p:cNvPr id="32" name="Rectangle 31"/>
          <p:cNvSpPr/>
          <p:nvPr/>
        </p:nvSpPr>
        <p:spPr>
          <a:xfrm>
            <a:off x="8037576"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37576" y="395020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459468" y="420624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59468"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6</a:t>
            </a:r>
          </a:p>
        </p:txBody>
      </p:sp>
      <p:sp>
        <p:nvSpPr>
          <p:cNvPr id="36" name="TextBox 35"/>
          <p:cNvSpPr txBox="1"/>
          <p:nvPr/>
        </p:nvSpPr>
        <p:spPr>
          <a:xfrm>
            <a:off x="8202168"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Review accuracy, fairness, privacy, rights, tone and action authority before use.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Effective Prompting for HR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Goal: draft a first-day email for a Singapore-based new employee.</a:t>
            </a:r>
          </a:p>
          <a:p>
            <a:pPr>
              <a:spcAft>
                <a:spcPts val="1000"/>
              </a:spcAft>
            </a:pPr>
            <a:r>
              <a:rPr sz="1600" b="0">
                <a:solidFill>
                  <a:srgbClr val="161B26"/>
                </a:solidFill>
                <a:latin typeface="Arial"/>
              </a:rPr>
              <a:t>•  Sources: offer-confirmation facts and approved onboarding policy excerpts; personal medical or family information is excluded.</a:t>
            </a:r>
          </a:p>
          <a:p>
            <a:pPr>
              <a:spcAft>
                <a:spcPts val="1000"/>
              </a:spcAft>
            </a:pPr>
            <a:r>
              <a:rPr sz="1600" b="0">
                <a:solidFill>
                  <a:srgbClr val="161B26"/>
                </a:solidFill>
                <a:latin typeface="Arial"/>
              </a:rPr>
              <a:t>•  Output: subject, message, source ledger and unresolved questions; any policy exception is marked ESCALATE TO HR.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same HR transformation or review task will recur with different approved inputs.</a:t>
            </a:r>
          </a:p>
          <a:p>
            <a:pPr>
              <a:spcAft>
                <a:spcPts val="1000"/>
              </a:spcAft>
            </a:pPr>
            <a:r>
              <a:rPr sz="1400" b="0">
                <a:solidFill>
                  <a:srgbClr val="5B6372"/>
                </a:solidFill>
                <a:latin typeface="Arial"/>
              </a:rPr>
              <a:t>–  Success criteria can be checked against a source, rubric, schema or reviewer checklist.</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purpose, authorised source or intended human decision is unclear.</a:t>
            </a:r>
          </a:p>
          <a:p>
            <a:pPr>
              <a:spcAft>
                <a:spcPts val="1000"/>
              </a:spcAft>
            </a:pPr>
            <a:r>
              <a:rPr sz="1400" b="0">
                <a:solidFill>
                  <a:srgbClr val="5B6372"/>
                </a:solidFill>
                <a:latin typeface="Arial"/>
              </a:rPr>
              <a:t>–  The prompt would include real personal data in a service not approved for that data.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Effective Prompting for HR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Specific</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Goal, scope, audience, criteria and format are explicit.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Evidence-led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Sources are delimited and every material claim carries a reference.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Fail-safe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Missing or conflicting evidence triggers a question or escalation.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Connecting AI to HR Data and Documents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governed HR connection exposes a defined source through a limited interface. Its data contract records purpose, owner, fields, record grain, version, refresh time, permitted users, retention, quality checks and whether the connection may read or write.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Candidate and employee repositories contain personal and sometimes sensitive information. Broad access increases privacy, prompt-injection and accidental-action risk, while unclear versions allow an agent to quote a retired policy as if it were current.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Connecting AI to HR Data and Documents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99132" y="201168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913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941832" y="2633472"/>
            <a:ext cx="3044952" cy="1005840"/>
          </a:xfrm>
          <a:prstGeom prst="rect">
            <a:avLst/>
          </a:prstGeom>
          <a:noFill/>
        </p:spPr>
        <p:txBody>
          <a:bodyPr wrap="square" anchor="ctr">
            <a:spAutoFit/>
          </a:bodyPr>
          <a:lstStyle/>
          <a:p>
            <a:pPr algn="ctr">
              <a:spcAft>
                <a:spcPts val="400"/>
              </a:spcAft>
            </a:pPr>
            <a:r>
              <a:rPr sz="1300" b="0">
                <a:solidFill>
                  <a:srgbClr val="161B26"/>
                </a:solidFill>
                <a:latin typeface="Arial"/>
              </a:rPr>
              <a:t>Classify the use case and minimise rows, fields, periods and documents before connection.</a:t>
            </a:r>
          </a:p>
        </p:txBody>
      </p:sp>
      <p:sp>
        <p:nvSpPr>
          <p:cNvPr id="12" name="Rectangle 11"/>
          <p:cNvSpPr/>
          <p:nvPr/>
        </p:nvSpPr>
        <p:spPr>
          <a:xfrm>
            <a:off x="4407408"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75564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29300" y="201168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9300"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4572000"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Begin with synthetic or de-identified snapshots and read-only tools.</a:t>
            </a:r>
          </a:p>
        </p:txBody>
      </p:sp>
      <p:sp>
        <p:nvSpPr>
          <p:cNvPr id="17" name="Rectangle 16"/>
          <p:cNvSpPr/>
          <p:nvPr/>
        </p:nvSpPr>
        <p:spPr>
          <a:xfrm>
            <a:off x="8037576"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5564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59468" y="201168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59468"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202168" y="2633472"/>
            <a:ext cx="3044952" cy="1005840"/>
          </a:xfrm>
          <a:prstGeom prst="rect">
            <a:avLst/>
          </a:prstGeom>
          <a:noFill/>
        </p:spPr>
        <p:txBody>
          <a:bodyPr wrap="square" anchor="ctr">
            <a:spAutoFit/>
          </a:bodyPr>
          <a:lstStyle/>
          <a:p>
            <a:pPr algn="ctr">
              <a:spcAft>
                <a:spcPts val="400"/>
              </a:spcAft>
            </a:pPr>
            <a:r>
              <a:rPr sz="1300" b="0">
                <a:solidFill>
                  <a:srgbClr val="161B26"/>
                </a:solidFill>
                <a:latin typeface="Arial"/>
              </a:rPr>
              <a:t>Record authoritative owner, effective date, version, jurisdiction and expiry for every policy.</a:t>
            </a:r>
          </a:p>
        </p:txBody>
      </p:sp>
      <p:sp>
        <p:nvSpPr>
          <p:cNvPr id="22" name="Rectangle 21"/>
          <p:cNvSpPr/>
          <p:nvPr/>
        </p:nvSpPr>
        <p:spPr>
          <a:xfrm>
            <a:off x="777240"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95020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199132" y="420624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9132"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941832" y="4828032"/>
            <a:ext cx="3044952" cy="1005840"/>
          </a:xfrm>
          <a:prstGeom prst="rect">
            <a:avLst/>
          </a:prstGeom>
          <a:noFill/>
        </p:spPr>
        <p:txBody>
          <a:bodyPr wrap="square" anchor="ctr">
            <a:spAutoFit/>
          </a:bodyPr>
          <a:lstStyle/>
          <a:p>
            <a:pPr algn="ctr">
              <a:spcAft>
                <a:spcPts val="400"/>
              </a:spcAft>
            </a:pPr>
            <a:r>
              <a:rPr sz="1300" b="0">
                <a:solidFill>
                  <a:srgbClr val="161B26"/>
                </a:solidFill>
                <a:latin typeface="Arial"/>
              </a:rPr>
              <a:t>Validate completeness, duplicates, field meanings, access and document status before retrieval.</a:t>
            </a:r>
          </a:p>
        </p:txBody>
      </p:sp>
      <p:sp>
        <p:nvSpPr>
          <p:cNvPr id="27" name="Rectangle 26"/>
          <p:cNvSpPr/>
          <p:nvPr/>
        </p:nvSpPr>
        <p:spPr>
          <a:xfrm>
            <a:off x="4407408"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07408" y="395020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829300" y="420624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29300"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4572000"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Return source identifiers and timestamps with retrieved content.</a:t>
            </a:r>
          </a:p>
        </p:txBody>
      </p:sp>
      <p:sp>
        <p:nvSpPr>
          <p:cNvPr id="32" name="Rectangle 31"/>
          <p:cNvSpPr/>
          <p:nvPr/>
        </p:nvSpPr>
        <p:spPr>
          <a:xfrm>
            <a:off x="8037576"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37576" y="3950208"/>
            <a:ext cx="337413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459468" y="4206240"/>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59468"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6</a:t>
            </a:r>
          </a:p>
        </p:txBody>
      </p:sp>
      <p:sp>
        <p:nvSpPr>
          <p:cNvPr id="36" name="TextBox 35"/>
          <p:cNvSpPr txBox="1"/>
          <p:nvPr/>
        </p:nvSpPr>
        <p:spPr>
          <a:xfrm>
            <a:off x="8202168" y="4828032"/>
            <a:ext cx="3044952" cy="1005840"/>
          </a:xfrm>
          <a:prstGeom prst="rect">
            <a:avLst/>
          </a:prstGeom>
          <a:noFill/>
        </p:spPr>
        <p:txBody>
          <a:bodyPr wrap="square" anchor="ctr">
            <a:spAutoFit/>
          </a:bodyPr>
          <a:lstStyle/>
          <a:p>
            <a:pPr algn="ctr">
              <a:spcAft>
                <a:spcPts val="400"/>
              </a:spcAft>
            </a:pPr>
            <a:r>
              <a:rPr sz="1300" b="0">
                <a:solidFill>
                  <a:srgbClr val="161B26"/>
                </a:solidFill>
                <a:latin typeface="Arial"/>
              </a:rPr>
              <a:t>Separate retrieval from any write, send or status-change tool and place approvals before actions.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Connecting AI to HR Data and Documents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employee helper can retrieve three approved policy excerpts by Policy_ID and Effective_Date.</a:t>
            </a:r>
          </a:p>
          <a:p>
            <a:pPr>
              <a:spcAft>
                <a:spcPts val="1000"/>
              </a:spcAft>
            </a:pPr>
            <a:r>
              <a:rPr sz="1600" b="0">
                <a:solidFill>
                  <a:srgbClr val="161B26"/>
                </a:solidFill>
                <a:latin typeface="Arial"/>
              </a:rPr>
              <a:t>•  It cannot browse payroll, performance or medical folders and has no send permission.</a:t>
            </a:r>
          </a:p>
          <a:p>
            <a:pPr>
              <a:spcAft>
                <a:spcPts val="1000"/>
              </a:spcAft>
            </a:pPr>
            <a:r>
              <a:rPr sz="1600" b="0">
                <a:solidFill>
                  <a:srgbClr val="161B26"/>
                </a:solidFill>
                <a:latin typeface="Arial"/>
              </a:rPr>
              <a:t>•  A conflicting or expired excerpt stops the run and creates a question for the policy owner.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repeatable workflow needs approved structured records or policy documents.</a:t>
            </a:r>
          </a:p>
          <a:p>
            <a:pPr>
              <a:spcAft>
                <a:spcPts val="1000"/>
              </a:spcAft>
            </a:pPr>
            <a:r>
              <a:rPr sz="1400" b="0">
                <a:solidFill>
                  <a:srgbClr val="5B6372"/>
                </a:solidFill>
                <a:latin typeface="Arial"/>
              </a:rPr>
              <a:t>–  A data owner can define purpose, quality, access, retention and lineage.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connector exposes an entire HR drive or inherited administrator privileges.</a:t>
            </a:r>
          </a:p>
          <a:p>
            <a:pPr>
              <a:spcAft>
                <a:spcPts val="1000"/>
              </a:spcAft>
            </a:pPr>
            <a:r>
              <a:rPr sz="1400" b="0">
                <a:solidFill>
                  <a:srgbClr val="5B6372"/>
                </a:solidFill>
                <a:latin typeface="Arial"/>
              </a:rPr>
              <a:t>–  The source has no owner, effective date, stable identifier or current-version rule.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Connecting AI to HR Data and Documents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Minimal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Only the necessary records and fields are available.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Current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Version, effective date and authoritative owner are visible.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Traceable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Each output points to the exact source retrieved for that run.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Get Started with AI for HR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Frame the Asteron HR Agent and Write the Prompt Contract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Grounded HR Source and Employee FAQ Pack</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Frame the Asteron HR Agent and Write the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inspect the synthetic Asteron People Operations brief, compare an assistant, fixed automation and agent pattern, and choose a bounded onboarding-support use case. You will map its purpose, evidence, action and decision boundaries before running a G-C-C-S-O-R prompt and reviewing the result.</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01-foundation/hr-agent-foundation.md containing the selected pattern, four-boundary canvas, first prompt, initial and refined outputs, claim ledger, human decision and stop conditions.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Choose the use case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Map four boundaries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Write G-C-C-S-O-R</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Run and review</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Text editor - approved AI assistant - asteron-people-operations-brief.md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Frame the Asteron HR Agent and Write the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700" b="0">
                <a:solidFill>
                  <a:srgbClr val="161B26"/>
                </a:solidFill>
                <a:latin typeface="Arial"/>
              </a:rPr>
              <a:t>Open 01-foundation/hr-agent-foundation.md. It must name one pattern and justify it; contain all four boundaries; contain one explicit completion, uncertainty, time, duplicate and unsafe-action condition; contain one complete G-C-C-S-O-R prompt, initial and refined outputs, a version-tagged claim ledger with no unsupported statement marked SUPPORTED, and one human decision.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Grounded HR Source and Employee FAQ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inspect synthetic onboarding policy excerpts, identify the current source for each policy topic and define a read-only retrieval contract. You will then produce six answer-or-handoff records, cite the exact Policy_ID and effective date for answers, and route cases that cannot be answered safely.</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01-foundation/hr-source-register.csv and 01-foundation/employee-faq-pack.md with current-version rules, six answer-or-handoff records, source citations, unknowns, escalation routes and a retrieval test log.</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Validate sources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Set retrieval rules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Draft answers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Verify lineage</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approved-policy-excerpts.md - employee-questions.csv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Grounded HR Source and Employee FAQ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700" b="0">
                <a:solidFill>
                  <a:srgbClr val="161B26"/>
                </a:solidFill>
                <a:latin typeface="Arial"/>
              </a:rPr>
              <a:t>The source register must contain every supplied policy version, exactly one CURRENT row per topic, and no blank owner or effective date. The FAQ pack must cover Q-001 to Q-006, cite Policy_ID and Effective_Date for every ANSWER, contain no conclusion for CLARIFY or ESCALATE cases, and show all four retrieval tests PASS.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Get Started with AI for HR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use an approved AI assistant with a structured prompt, source boundary and human review method</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connect an HR task to current approved sources while preserving source identity, uncertainty and human review</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Build HR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agent workflow design - recruitment decision support - onboarding and employee support - HR content and communications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Midday and afternoon - 2 connected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Build HR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Workflow contract</a:t>
            </a:r>
          </a:p>
          <a:p>
            <a:pPr algn="l">
              <a:spcAft>
                <a:spcPts val="300"/>
              </a:spcAft>
            </a:pPr>
            <a:r>
              <a:rPr sz="1200" b="0">
                <a:solidFill>
                  <a:srgbClr val="5B6372"/>
                </a:solidFill>
                <a:latin typeface="Arial"/>
              </a:rPr>
              <a:t>Map trigger, sources, tools, branches, decisions, evidence and fallback before configuration.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Job-related rubric</a:t>
            </a:r>
          </a:p>
          <a:p>
            <a:pPr algn="l">
              <a:spcAft>
                <a:spcPts val="300"/>
              </a:spcAft>
            </a:pPr>
            <a:r>
              <a:rPr sz="1200" b="0">
                <a:solidFill>
                  <a:srgbClr val="5B6372"/>
                </a:solidFill>
                <a:latin typeface="Arial"/>
              </a:rPr>
              <a:t>Translate role requirements into consistent observable criteria before reviewing candidates.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Decision support</a:t>
            </a:r>
          </a:p>
          <a:p>
            <a:pPr algn="l">
              <a:spcAft>
                <a:spcPts val="300"/>
              </a:spcAft>
            </a:pPr>
            <a:r>
              <a:rPr sz="1200" b="0">
                <a:solidFill>
                  <a:srgbClr val="5B6372"/>
                </a:solidFill>
                <a:latin typeface="Arial"/>
              </a:rPr>
              <a:t>The agent organises evidence and questions; an authorised person owns the hiring decision.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Policy-grounded support</a:t>
            </a:r>
          </a:p>
          <a:p>
            <a:pPr algn="l">
              <a:spcAft>
                <a:spcPts val="300"/>
              </a:spcAft>
            </a:pPr>
            <a:r>
              <a:rPr sz="1200" b="0">
                <a:solidFill>
                  <a:srgbClr val="5B6372"/>
                </a:solidFill>
                <a:latin typeface="Arial"/>
              </a:rPr>
              <a:t>Answer from current approved policy and escalate personal, ambiguous or high-impact cases.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communication</a:t>
            </a:r>
          </a:p>
          <a:p>
            <a:pPr algn="l">
              <a:spcAft>
                <a:spcPts val="300"/>
              </a:spcAft>
            </a:pPr>
            <a:r>
              <a:rPr sz="1200" b="0">
                <a:solidFill>
                  <a:srgbClr val="5B6372"/>
                </a:solidFill>
                <a:latin typeface="Arial"/>
              </a:rPr>
              <a:t>Use AI for options and editing while a responsible sender verifies facts, tone and audience.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Verification</a:t>
            </a:r>
          </a:p>
          <a:p>
            <a:pPr algn="l">
              <a:spcAft>
                <a:spcPts val="300"/>
              </a:spcAft>
            </a:pPr>
            <a:r>
              <a:rPr sz="1200" b="0">
                <a:solidFill>
                  <a:srgbClr val="5B6372"/>
                </a:solidFill>
                <a:latin typeface="Arial"/>
              </a:rPr>
              <a:t>Test normal, boundary, missing-data, conflicting-source and unsafe-action cases.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Designing Agentic AI Workflows for HR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HR agent workflow is a bounded sequence in which a model may choose among approved read, transform, classify, ask and draft steps. The design contract defines triggers, inputs, state, tools, branches, human decisions, evidence and stop conditions before a platform is configured.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demonstration often shows only the happy path. HR operations also contain missing documents, policy conflicts, candidate questions, protected information and exceptions that need a clear owner rather than an improvised model response.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Designing Agentic AI Workflows for HR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99132" y="201168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913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941832"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Write the outcome and non-goals, then draw the current human workflow.</a:t>
            </a:r>
          </a:p>
        </p:txBody>
      </p:sp>
      <p:sp>
        <p:nvSpPr>
          <p:cNvPr id="12" name="Rectangle 11"/>
          <p:cNvSpPr/>
          <p:nvPr/>
        </p:nvSpPr>
        <p:spPr>
          <a:xfrm>
            <a:off x="4407408"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75564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29300" y="201168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9300"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4572000"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Classify each step as deterministic rule, model task, human decision or external action.</a:t>
            </a:r>
          </a:p>
        </p:txBody>
      </p:sp>
      <p:sp>
        <p:nvSpPr>
          <p:cNvPr id="17" name="Rectangle 16"/>
          <p:cNvSpPr/>
          <p:nvPr/>
        </p:nvSpPr>
        <p:spPr>
          <a:xfrm>
            <a:off x="8037576"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5564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59468" y="201168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59468"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202168"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Define tool inputs, outputs, permissions, timeouts and idempotency keys.</a:t>
            </a:r>
          </a:p>
        </p:txBody>
      </p:sp>
      <p:sp>
        <p:nvSpPr>
          <p:cNvPr id="22" name="Rectangle 21"/>
          <p:cNvSpPr/>
          <p:nvPr/>
        </p:nvSpPr>
        <p:spPr>
          <a:xfrm>
            <a:off x="2592324"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92324" y="395020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014216" y="420624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14216"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2756916"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Add escalation for uncertainty, conflicting sources and high-impact cases.</a:t>
            </a:r>
          </a:p>
        </p:txBody>
      </p:sp>
      <p:sp>
        <p:nvSpPr>
          <p:cNvPr id="27" name="Rectangle 26"/>
          <p:cNvSpPr/>
          <p:nvPr/>
        </p:nvSpPr>
        <p:spPr>
          <a:xfrm>
            <a:off x="6222492"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22492" y="395020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44384" y="420624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44384"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6387084"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Define completion evidence and a manual fallback before the first prototype.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Designing Agentic AI Workflows for HR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Trigger: an approved new-hire record is created with a start date and location.</a:t>
            </a:r>
          </a:p>
          <a:p>
            <a:pPr>
              <a:spcAft>
                <a:spcPts val="1000"/>
              </a:spcAft>
            </a:pPr>
            <a:r>
              <a:rPr sz="1600" b="0">
                <a:solidFill>
                  <a:srgbClr val="161B26"/>
                </a:solidFill>
                <a:latin typeface="Arial"/>
              </a:rPr>
              <a:t>•  The flow checks required fields, retrieves current policy, drafts tasks and asks HR to approve the plan.</a:t>
            </a:r>
          </a:p>
          <a:p>
            <a:pPr>
              <a:spcAft>
                <a:spcPts val="1000"/>
              </a:spcAft>
            </a:pPr>
            <a:r>
              <a:rPr sz="1600" b="0">
                <a:solidFill>
                  <a:srgbClr val="161B26"/>
                </a:solidFill>
                <a:latin typeface="Arial"/>
              </a:rPr>
              <a:t>•  Only after approval are tasks created; duplicate Employee_ID and Start_Date runs are blocked.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process is multi-step, has repeated exceptions and can be represented with explicit states.</a:t>
            </a:r>
          </a:p>
          <a:p>
            <a:pPr>
              <a:spcAft>
                <a:spcPts val="1000"/>
              </a:spcAft>
            </a:pPr>
            <a:r>
              <a:rPr sz="1400" b="0">
                <a:solidFill>
                  <a:srgbClr val="5B6372"/>
                </a:solidFill>
                <a:latin typeface="Arial"/>
              </a:rPr>
              <a:t>–  Owners can specify allowed actions and what evidence proves completion.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desired outcome changes from case to case without a stable owner or policy basis.</a:t>
            </a:r>
          </a:p>
          <a:p>
            <a:pPr>
              <a:spcAft>
                <a:spcPts val="1000"/>
              </a:spcAft>
            </a:pPr>
            <a:r>
              <a:rPr sz="1400" b="0">
                <a:solidFill>
                  <a:srgbClr val="5B6372"/>
                </a:solidFill>
                <a:latin typeface="Arial"/>
              </a:rPr>
              <a:t>–  The agent would need unrestricted access or an irreversible action without an approval boundary.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Designing Agentic AI Workflows for HR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Complete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Trigger, inputs, states, branches, owners and finish conditions are mapped.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Least privilege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tool exposes only the fields and actions required.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Recoverable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Retries, duplicates, failures and manual fallback are designed.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Recruitment and Candidate Screening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recruitment agent can extract role-relevant evidence, compare it with a pre-approved rubric, identify missing information and prepare consistent interview questions. It is decision support: it must not infer protected traits or replace the accountable hiring decision.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Unstructured resume review is vulnerable to inconsistent criteria and unsupported assumptions. A transparent rubric tied to actual job requirements improves consistency, while source citations, deferral and human review expose uncertainty instead of hiding it.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Recruitment and Candidate Screening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99132" y="201168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913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941832" y="2633472"/>
            <a:ext cx="3044952" cy="1005840"/>
          </a:xfrm>
          <a:prstGeom prst="rect">
            <a:avLst/>
          </a:prstGeom>
          <a:noFill/>
        </p:spPr>
        <p:txBody>
          <a:bodyPr wrap="square" anchor="ctr">
            <a:spAutoFit/>
          </a:bodyPr>
          <a:lstStyle/>
          <a:p>
            <a:pPr algn="ctr">
              <a:spcAft>
                <a:spcPts val="400"/>
              </a:spcAft>
            </a:pPr>
            <a:r>
              <a:rPr sz="1300" b="0">
                <a:solidFill>
                  <a:srgbClr val="161B26"/>
                </a:solidFill>
                <a:latin typeface="Arial"/>
              </a:rPr>
              <a:t>Complete job analysis and approve skills, experience and evidence anchors before candidate review.</a:t>
            </a:r>
          </a:p>
        </p:txBody>
      </p:sp>
      <p:sp>
        <p:nvSpPr>
          <p:cNvPr id="12" name="Rectangle 11"/>
          <p:cNvSpPr/>
          <p:nvPr/>
        </p:nvSpPr>
        <p:spPr>
          <a:xfrm>
            <a:off x="4407408"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75564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29300" y="201168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9300"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4572000" y="2633472"/>
            <a:ext cx="3044952" cy="1005840"/>
          </a:xfrm>
          <a:prstGeom prst="rect">
            <a:avLst/>
          </a:prstGeom>
          <a:noFill/>
        </p:spPr>
        <p:txBody>
          <a:bodyPr wrap="square" anchor="ctr">
            <a:spAutoFit/>
          </a:bodyPr>
          <a:lstStyle/>
          <a:p>
            <a:pPr algn="ctr">
              <a:spcAft>
                <a:spcPts val="400"/>
              </a:spcAft>
            </a:pPr>
            <a:r>
              <a:rPr sz="1300" b="0">
                <a:solidFill>
                  <a:srgbClr val="161B26"/>
                </a:solidFill>
                <a:latin typeface="Arial"/>
              </a:rPr>
              <a:t>Remove non-job-related fields and instruct the system not to infer protected characteristics.</a:t>
            </a:r>
          </a:p>
        </p:txBody>
      </p:sp>
      <p:sp>
        <p:nvSpPr>
          <p:cNvPr id="17" name="Rectangle 16"/>
          <p:cNvSpPr/>
          <p:nvPr/>
        </p:nvSpPr>
        <p:spPr>
          <a:xfrm>
            <a:off x="8037576"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5564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59468" y="201168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59468"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202168"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Extract evidence with resume line or record references; mark missing facts UNKNOWN.</a:t>
            </a:r>
          </a:p>
        </p:txBody>
      </p:sp>
      <p:sp>
        <p:nvSpPr>
          <p:cNvPr id="22" name="Rectangle 21"/>
          <p:cNvSpPr/>
          <p:nvPr/>
        </p:nvSpPr>
        <p:spPr>
          <a:xfrm>
            <a:off x="777240"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95020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199132" y="420624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9132"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941832"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Apply the same anchored rubric to every candidate for the same role.</a:t>
            </a:r>
          </a:p>
        </p:txBody>
      </p:sp>
      <p:sp>
        <p:nvSpPr>
          <p:cNvPr id="27" name="Rectangle 26"/>
          <p:cNvSpPr/>
          <p:nvPr/>
        </p:nvSpPr>
        <p:spPr>
          <a:xfrm>
            <a:off x="4407408"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07408" y="395020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829300" y="420624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29300"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4572000"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Compare proposed and final human scores and record adjustments with reasons.</a:t>
            </a:r>
          </a:p>
        </p:txBody>
      </p:sp>
      <p:sp>
        <p:nvSpPr>
          <p:cNvPr id="32" name="Rectangle 31"/>
          <p:cNvSpPr/>
          <p:nvPr/>
        </p:nvSpPr>
        <p:spPr>
          <a:xfrm>
            <a:off x="8037576"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37576" y="395020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459468" y="420624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59468"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6</a:t>
            </a:r>
          </a:p>
        </p:txBody>
      </p:sp>
      <p:sp>
        <p:nvSpPr>
          <p:cNvPr id="36" name="TextBox 35"/>
          <p:cNvSpPr txBox="1"/>
          <p:nvPr/>
        </p:nvSpPr>
        <p:spPr>
          <a:xfrm>
            <a:off x="8202168"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Monitor outcomes, error patterns and subgroup effects where lawful and appropriate.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Recruitment and Candidate Screening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role requires service-case handling, spreadsheet reporting and stakeholder communication.</a:t>
            </a:r>
          </a:p>
          <a:p>
            <a:pPr>
              <a:spcAft>
                <a:spcPts val="1000"/>
              </a:spcAft>
            </a:pPr>
            <a:r>
              <a:rPr sz="1600" b="0">
                <a:solidFill>
                  <a:srgbClr val="161B26"/>
                </a:solidFill>
                <a:latin typeface="Arial"/>
              </a:rPr>
              <a:t>•  The agent cites evidence for each criterion and writes UNKNOWN when a resume lacks sufficient detail.</a:t>
            </a:r>
          </a:p>
          <a:p>
            <a:pPr>
              <a:spcAft>
                <a:spcPts val="1000"/>
              </a:spcAft>
            </a:pPr>
            <a:r>
              <a:rPr sz="1600" b="0">
                <a:solidFill>
                  <a:srgbClr val="161B26"/>
                </a:solidFill>
                <a:latin typeface="Arial"/>
              </a:rPr>
              <a:t>•  The hiring panel reviews all evidence, corrects one over-score and owns the shortlist and interview plan.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Criteria are job-related, documented and applied consistently across the candidate set.</a:t>
            </a:r>
          </a:p>
          <a:p>
            <a:pPr>
              <a:spcAft>
                <a:spcPts val="1000"/>
              </a:spcAft>
            </a:pPr>
            <a:r>
              <a:rPr sz="1400" b="0">
                <a:solidFill>
                  <a:srgbClr val="5B6372"/>
                </a:solidFill>
                <a:latin typeface="Arial"/>
              </a:rPr>
              <a:t>–  The agent can cite evidence and defer uncertain cases to trained reviewers.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Inferring age, disability, family status, ethnicity, health, personality or other sensitive traits.</a:t>
            </a:r>
          </a:p>
          <a:p>
            <a:pPr>
              <a:spcAft>
                <a:spcPts val="1000"/>
              </a:spcAft>
            </a:pPr>
            <a:r>
              <a:rPr sz="1400" b="0">
                <a:solidFill>
                  <a:srgbClr val="5B6372"/>
                </a:solidFill>
                <a:latin typeface="Arial"/>
              </a:rPr>
              <a:t>–  Automatically rejecting a candidate or changing criteria after seeing candidate identities.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Recruitment and Candidate Screening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Relevant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criterion is justified by the job analysis.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Consistent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same rubric and evidence rules apply to all candidates.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Reviewable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Sources, unknowns, scores, changes and final human decision are retained.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Onboarding and Employee Support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onboarding or employee-support agent retrieves approved policy, gathers only necessary case facts, prepares tasks or a draft answer and routes exceptions to the correct owner. It should show the source and effective date and make escalation easy.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Fast answers improve the employee experience only when they are current and appropriate for the employee's context. A confident response from an expired policy can create more work and harm than a clear handoff to HR.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Onboarding and Employee Support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99132" y="201168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913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941832" y="2633472"/>
            <a:ext cx="3044952" cy="1005840"/>
          </a:xfrm>
          <a:prstGeom prst="rect">
            <a:avLst/>
          </a:prstGeom>
          <a:noFill/>
        </p:spPr>
        <p:txBody>
          <a:bodyPr wrap="square" anchor="ctr">
            <a:spAutoFit/>
          </a:bodyPr>
          <a:lstStyle/>
          <a:p>
            <a:pPr algn="ctr">
              <a:spcAft>
                <a:spcPts val="400"/>
              </a:spcAft>
            </a:pPr>
            <a:r>
              <a:rPr sz="1300" b="0">
                <a:solidFill>
                  <a:srgbClr val="161B26"/>
                </a:solidFill>
                <a:latin typeface="Arial"/>
              </a:rPr>
              <a:t>Create an intent list and define which questions the agent may answer, draft or only route.</a:t>
            </a:r>
          </a:p>
        </p:txBody>
      </p:sp>
      <p:sp>
        <p:nvSpPr>
          <p:cNvPr id="12" name="Rectangle 11"/>
          <p:cNvSpPr/>
          <p:nvPr/>
        </p:nvSpPr>
        <p:spPr>
          <a:xfrm>
            <a:off x="4407408"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75564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29300" y="201168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9300"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4572000"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Retrieve current policy by stable identifier, jurisdiction and effective date.</a:t>
            </a:r>
          </a:p>
        </p:txBody>
      </p:sp>
      <p:sp>
        <p:nvSpPr>
          <p:cNvPr id="17" name="Rectangle 16"/>
          <p:cNvSpPr/>
          <p:nvPr/>
        </p:nvSpPr>
        <p:spPr>
          <a:xfrm>
            <a:off x="8037576"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5564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59468" y="201168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59468"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202168"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Ask only for the minimum case facts needed to choose an approved route.</a:t>
            </a:r>
          </a:p>
        </p:txBody>
      </p:sp>
      <p:sp>
        <p:nvSpPr>
          <p:cNvPr id="22" name="Rectangle 21"/>
          <p:cNvSpPr/>
          <p:nvPr/>
        </p:nvSpPr>
        <p:spPr>
          <a:xfrm>
            <a:off x="777240"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95020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199132" y="420624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9132"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941832"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Return answer, source, confidence limits, next action and escalation path.</a:t>
            </a:r>
          </a:p>
        </p:txBody>
      </p:sp>
      <p:sp>
        <p:nvSpPr>
          <p:cNvPr id="27" name="Rectangle 26"/>
          <p:cNvSpPr/>
          <p:nvPr/>
        </p:nvSpPr>
        <p:spPr>
          <a:xfrm>
            <a:off x="4407408"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07408" y="395020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829300" y="420624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29300"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4572000"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Separate support content from personal case decisions and employee-relations matters.</a:t>
            </a:r>
          </a:p>
        </p:txBody>
      </p:sp>
      <p:sp>
        <p:nvSpPr>
          <p:cNvPr id="32" name="Rectangle 31"/>
          <p:cNvSpPr/>
          <p:nvPr/>
        </p:nvSpPr>
        <p:spPr>
          <a:xfrm>
            <a:off x="8037576"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37576" y="395020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459468" y="420624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59468"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6</a:t>
            </a:r>
          </a:p>
        </p:txBody>
      </p:sp>
      <p:sp>
        <p:nvSpPr>
          <p:cNvPr id="36" name="TextBox 35"/>
          <p:cNvSpPr txBox="1"/>
          <p:nvPr/>
        </p:nvSpPr>
        <p:spPr>
          <a:xfrm>
            <a:off x="8202168"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Log unanswered questions to improve the knowledge base through a controlled process.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Onboarding and Employee Support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new employee asks when to complete the equipment form and where to find it.</a:t>
            </a:r>
          </a:p>
          <a:p>
            <a:pPr>
              <a:spcAft>
                <a:spcPts val="1000"/>
              </a:spcAft>
            </a:pPr>
            <a:r>
              <a:rPr sz="1600" b="0">
                <a:solidFill>
                  <a:srgbClr val="161B26"/>
                </a:solidFill>
                <a:latin typeface="Arial"/>
              </a:rPr>
              <a:t>•  The agent cites ONB-02, provides the current deadline and link, and labels the response as general guidance.</a:t>
            </a:r>
          </a:p>
          <a:p>
            <a:pPr>
              <a:spcAft>
                <a:spcPts val="1000"/>
              </a:spcAft>
            </a:pPr>
            <a:r>
              <a:rPr sz="1600" b="0">
                <a:solidFill>
                  <a:srgbClr val="161B26"/>
                </a:solidFill>
                <a:latin typeface="Arial"/>
              </a:rPr>
              <a:t>•  A question about a personal leave exception is routed to an HR partner without the agent deciding eligibility.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Approved policy and process sources are current, versioned and owned.</a:t>
            </a:r>
          </a:p>
          <a:p>
            <a:pPr>
              <a:spcAft>
                <a:spcPts val="1000"/>
              </a:spcAft>
            </a:pPr>
            <a:r>
              <a:rPr sz="1400" b="0">
                <a:solidFill>
                  <a:srgbClr val="5B6372"/>
                </a:solidFill>
                <a:latin typeface="Arial"/>
              </a:rPr>
              <a:t>–  The support boundary and escalation routes are clear to employees and operators.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personal case requires judgement, accommodation, investigation, discipline or legal interpretation.</a:t>
            </a:r>
          </a:p>
          <a:p>
            <a:pPr>
              <a:spcAft>
                <a:spcPts val="1000"/>
              </a:spcAft>
            </a:pPr>
            <a:r>
              <a:rPr sz="1400" b="0">
                <a:solidFill>
                  <a:srgbClr val="5B6372"/>
                </a:solidFill>
                <a:latin typeface="Arial"/>
              </a:rPr>
              <a:t>–  The knowledge source contains conflicting or expired versions without an authoritative rule.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Onboarding and Employee Support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Current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answer shows the source and effective date.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Proportionate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Only necessary case information is requested.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Escalatable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High-impact and unresolved questions reach a named human route.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Drafting HR Content and Communications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 can generate and transform job descriptions, interview guides, onboarding messages, policy summaries and employee updates. The responsible sender supplies approved facts, reader context, tone and channel constraints, then verifies and edits before release.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HR language can shape access, trust and employee action. Generic or exclusionary wording, invented benefits and an incorrect deadline can cause real consequences even when the message sounds polished.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Drafting HR Content and Communications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99132" y="201168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913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941832"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Name the audience, communication purpose, required action and approved source facts.</a:t>
            </a:r>
          </a:p>
        </p:txBody>
      </p:sp>
      <p:sp>
        <p:nvSpPr>
          <p:cNvPr id="12" name="Rectangle 11"/>
          <p:cNvSpPr/>
          <p:nvPr/>
        </p:nvSpPr>
        <p:spPr>
          <a:xfrm>
            <a:off x="4407408"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75564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29300" y="201168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9300"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4572000"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Specify plain-language, accessibility, inclusive-language and channel requirements.</a:t>
            </a:r>
          </a:p>
        </p:txBody>
      </p:sp>
      <p:sp>
        <p:nvSpPr>
          <p:cNvPr id="17" name="Rectangle 16"/>
          <p:cNvSpPr/>
          <p:nvPr/>
        </p:nvSpPr>
        <p:spPr>
          <a:xfrm>
            <a:off x="8037576"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5564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59468" y="201168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59468"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202168"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Request options or critique rather than accepting the first draft.</a:t>
            </a:r>
          </a:p>
        </p:txBody>
      </p:sp>
      <p:sp>
        <p:nvSpPr>
          <p:cNvPr id="22" name="Rectangle 21"/>
          <p:cNvSpPr/>
          <p:nvPr/>
        </p:nvSpPr>
        <p:spPr>
          <a:xfrm>
            <a:off x="2592324"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92324" y="395020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014216" y="420624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14216"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2756916"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Use a claim ledger to check dates, policy statements, links and promises.</a:t>
            </a:r>
          </a:p>
        </p:txBody>
      </p:sp>
      <p:sp>
        <p:nvSpPr>
          <p:cNvPr id="27" name="Rectangle 26"/>
          <p:cNvSpPr/>
          <p:nvPr/>
        </p:nvSpPr>
        <p:spPr>
          <a:xfrm>
            <a:off x="6222492"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22492" y="3950208"/>
            <a:ext cx="337413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44384" y="4206240"/>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44384"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6387084"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Run a fairness, privacy, tone and action review and retain the final human edit.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Drafting HR Content and Communications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An agent drafts a role advertisement from an approved job analysis and removes non-job-related preferences.</a:t>
            </a:r>
          </a:p>
          <a:p>
            <a:pPr>
              <a:spcAft>
                <a:spcPts val="1000"/>
              </a:spcAft>
            </a:pPr>
            <a:r>
              <a:rPr sz="1600" b="0">
                <a:solidFill>
                  <a:srgbClr val="161B26"/>
                </a:solidFill>
                <a:latin typeface="Arial"/>
              </a:rPr>
              <a:t>•  It produces a first-day email from current onboarding policy and flags a missing equipment-contact name.</a:t>
            </a:r>
          </a:p>
          <a:p>
            <a:pPr>
              <a:spcAft>
                <a:spcPts val="1000"/>
              </a:spcAft>
            </a:pPr>
            <a:r>
              <a:rPr sz="1600" b="0">
                <a:solidFill>
                  <a:srgbClr val="161B26"/>
                </a:solidFill>
                <a:latin typeface="Arial"/>
              </a:rPr>
              <a:t>•  The HR owner supplies the missing fact, edits the tone and approves the final versions.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communication has an accountable sender and a complete approved fact base.</a:t>
            </a:r>
          </a:p>
          <a:p>
            <a:pPr>
              <a:spcAft>
                <a:spcPts val="1000"/>
              </a:spcAft>
            </a:pPr>
            <a:r>
              <a:rPr sz="1400" b="0">
                <a:solidFill>
                  <a:srgbClr val="5B6372"/>
                </a:solidFill>
                <a:latin typeface="Arial"/>
              </a:rPr>
              <a:t>–  The output can be checked against job, policy, brand and accessibility criteria.</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Sending high-impact or personalised messages automatically from an unreviewed draft.</a:t>
            </a:r>
          </a:p>
          <a:p>
            <a:pPr>
              <a:spcAft>
                <a:spcPts val="1000"/>
              </a:spcAft>
            </a:pPr>
            <a:r>
              <a:rPr sz="1400" b="0">
                <a:solidFill>
                  <a:srgbClr val="5B6372"/>
                </a:solidFill>
                <a:latin typeface="Arial"/>
              </a:rPr>
              <a:t>–  Creating promises, role requirements or policy interpretations beyond the supplied source.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Drafting HR Content and Communications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Accurate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date, promise, requirement and link is verified.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Inclusive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Language is job-related, respectful and accessible.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Owned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named sender reviews the final message and intended audience.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Build HR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Fair Recruitment Evidence Assistant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Onboarding and Employee Support Agent Pack</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Fair Recruitment Evidence Assistant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You will turn an approved Asteron role profile into a transparent screening rubric, remove non-job-related fields from four synthetic candidate records and ask an AI assistant to cite evidence for each criterion. A human reviewer will correct proposed scores, record reasons and prepare interview questions without automatically rejecting or selecting anyone.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02-hr-agents/recruitment-evidence-register.csv and 02-hr-agents/recruitment-review.md with criterion anchors, source evidence, unknowns, proposed and final scores, reviewer changes and human next-step decisions.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Approve criteria</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Minimise inputs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Extract evidence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Human review</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role-profile.md - synthetic-candidates.csv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Fair Recruitment Evidence Assistant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700" b="0">
                <a:solidFill>
                  <a:srgbClr val="161B26"/>
                </a:solidFill>
                <a:latin typeface="Arial"/>
              </a:rPr>
              <a:t>The register must contain four Candidate_ID rows, three proposed and final components per row, exact evidence references, visible unknowns, totals from 0 to 6, and an Adjustment_Reason for every changed score. The review file must contain criterion anchors, six structured questions and one human-owned next step per candidate; it must contain no automated selection, ranking, rejection or protected-trait inference.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Onboarding and Employee Support Agent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combine the current source register from Lab 2 with six synthetic onboarding and employee-support cases. The agent will classify each case as ANSWER, CLARIFY or ESCALATE, draft a first-week plan and employee messages, and retain sources, limitations and a human release decision.</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02-hr-agents/onboarding-support-pack.md and 02-hr-agents/support-routing-register.csv containing a first-week plan, six case routes, grounded drafts, source ledger, privacy check and human release decisions.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Classify cases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Retrieve policy</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Draft two packs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Release review</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onboarding-support-cases.csv - Lab 2 source register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Onboarding and Employee Support Agent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700" b="0">
                <a:solidFill>
                  <a:srgbClr val="161B26"/>
                </a:solidFill>
                <a:latin typeface="Arial"/>
              </a:rPr>
              <a:t>The routing register must contain six cases, necessary and omitted fields, one route, human owner and release decision per row. The support pack must include an ONB-ACT-01-grounded five-day plan for OS-001, six grounded drafts or handoffs, seven gate results and Final_Approved_Text for every released case, with Policy_ID and Effective_Date for each ANSWER. All three boundary tests must PASS, and no message may be sent or personal exception decided.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Build HR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LO2: design a recruitment decision-support agent with job-related criteria, source evidence and explicit human decisions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LO2: design onboarding and employee-support agents that use current policy, minimum necessary data and human communication review</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Deploy Agentic AI Across the HR Function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multi-step automation - HR system integration - privacy, fairness and human oversight - staged organisational rollout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Afternoon - 2 connected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Deploy Agentic AI Across the HR Function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Control-first automation</a:t>
            </a:r>
          </a:p>
          <a:p>
            <a:pPr algn="l">
              <a:spcAft>
                <a:spcPts val="300"/>
              </a:spcAft>
            </a:pPr>
            <a:r>
              <a:rPr sz="1200" b="0">
                <a:solidFill>
                  <a:srgbClr val="5B6372"/>
                </a:solidFill>
                <a:latin typeface="Arial"/>
              </a:rPr>
              <a:t>Design deterministic checks, model tasks and human gates as separate visible steps.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Integration contract</a:t>
            </a:r>
          </a:p>
          <a:p>
            <a:pPr algn="l">
              <a:spcAft>
                <a:spcPts val="300"/>
              </a:spcAft>
            </a:pPr>
            <a:r>
              <a:rPr sz="1200" b="0">
                <a:solidFill>
                  <a:srgbClr val="5B6372"/>
                </a:solidFill>
                <a:latin typeface="Arial"/>
              </a:rPr>
              <a:t>Specify identity, source, schema, permission, failure, retry and evidence for each connector.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Action boundary</a:t>
            </a:r>
          </a:p>
          <a:p>
            <a:pPr algn="l">
              <a:spcAft>
                <a:spcPts val="300"/>
              </a:spcAft>
            </a:pPr>
            <a:r>
              <a:rPr sz="1200" b="0">
                <a:solidFill>
                  <a:srgbClr val="5B6372"/>
                </a:solidFill>
                <a:latin typeface="Arial"/>
              </a:rPr>
              <a:t>Draft and recommend before any write, send, status change or people decision.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Risk-tiered oversight</a:t>
            </a:r>
          </a:p>
          <a:p>
            <a:pPr algn="l">
              <a:spcAft>
                <a:spcPts val="300"/>
              </a:spcAft>
            </a:pPr>
            <a:r>
              <a:rPr sz="1200" b="0">
                <a:solidFill>
                  <a:srgbClr val="5B6372"/>
                </a:solidFill>
                <a:latin typeface="Arial"/>
              </a:rPr>
              <a:t>Increase human involvement with uncertainty, sensitivity, impact and reversibility.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Evaluation set</a:t>
            </a:r>
          </a:p>
          <a:p>
            <a:pPr algn="l">
              <a:spcAft>
                <a:spcPts val="300"/>
              </a:spcAft>
            </a:pPr>
            <a:r>
              <a:rPr sz="1200" b="0">
                <a:solidFill>
                  <a:srgbClr val="5B6372"/>
                </a:solidFill>
                <a:latin typeface="Arial"/>
              </a:rPr>
              <a:t>Test normal, boundary, missing, conflicting, unsafe and fairness-relevant cases before pilot.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Staged rollout</a:t>
            </a:r>
          </a:p>
          <a:p>
            <a:pPr algn="l">
              <a:spcAft>
                <a:spcPts val="300"/>
              </a:spcAft>
            </a:pPr>
            <a:r>
              <a:rPr sz="1200" b="0">
                <a:solidFill>
                  <a:srgbClr val="5B6372"/>
                </a:solidFill>
                <a:latin typeface="Arial"/>
              </a:rPr>
              <a:t>Move from synthetic sandbox to shadow, read-only pilot and controlled operation with fallback.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Automating Multi-Step HR Workflows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multi-step HR workflow coordinates triggers, deterministic rules, model tasks, human decisions and controlled actions over a visible state. The system completes only when required checks, approvals and evidence are present.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Automation can reduce handoffs but also repeats mistakes at speed. Separating deterministic truth, model-supported judgement and human authority makes the process easier to test, stop and recover.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Automating Multi-Step HR Workflows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99132"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913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941832" y="2633472"/>
            <a:ext cx="3044952" cy="1005840"/>
          </a:xfrm>
          <a:prstGeom prst="rect">
            <a:avLst/>
          </a:prstGeom>
          <a:noFill/>
        </p:spPr>
        <p:txBody>
          <a:bodyPr wrap="square" anchor="ctr">
            <a:spAutoFit/>
          </a:bodyPr>
          <a:lstStyle/>
          <a:p>
            <a:pPr algn="ctr">
              <a:spcAft>
                <a:spcPts val="400"/>
              </a:spcAft>
            </a:pPr>
            <a:r>
              <a:rPr sz="1300" b="0">
                <a:solidFill>
                  <a:srgbClr val="161B26"/>
                </a:solidFill>
                <a:latin typeface="Arial"/>
              </a:rPr>
              <a:t>Define states such as RECEIVED, VALIDATED, DRAFTED, NEEDS_REVIEW, APPROVED, ACTIONED and CLOSED.</a:t>
            </a:r>
          </a:p>
        </p:txBody>
      </p:sp>
      <p:sp>
        <p:nvSpPr>
          <p:cNvPr id="12" name="Rectangle 11"/>
          <p:cNvSpPr/>
          <p:nvPr/>
        </p:nvSpPr>
        <p:spPr>
          <a:xfrm>
            <a:off x="4407408"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29300"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9300"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4572000" y="2633472"/>
            <a:ext cx="3044952" cy="1005840"/>
          </a:xfrm>
          <a:prstGeom prst="rect">
            <a:avLst/>
          </a:prstGeom>
          <a:noFill/>
        </p:spPr>
        <p:txBody>
          <a:bodyPr wrap="square" anchor="ctr">
            <a:spAutoFit/>
          </a:bodyPr>
          <a:lstStyle/>
          <a:p>
            <a:pPr algn="ctr">
              <a:spcAft>
                <a:spcPts val="400"/>
              </a:spcAft>
            </a:pPr>
            <a:r>
              <a:rPr sz="1300" b="0">
                <a:solidFill>
                  <a:srgbClr val="161B26"/>
                </a:solidFill>
                <a:latin typeface="Arial"/>
              </a:rPr>
              <a:t>Use deterministic checks for required fields, dates, identifiers, duplicates and routing.</a:t>
            </a:r>
          </a:p>
        </p:txBody>
      </p:sp>
      <p:sp>
        <p:nvSpPr>
          <p:cNvPr id="17" name="Rectangle 16"/>
          <p:cNvSpPr/>
          <p:nvPr/>
        </p:nvSpPr>
        <p:spPr>
          <a:xfrm>
            <a:off x="8037576"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59468"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59468"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202168"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Use the model only for bounded extraction, classification, drafting or critique.</a:t>
            </a:r>
          </a:p>
        </p:txBody>
      </p:sp>
      <p:sp>
        <p:nvSpPr>
          <p:cNvPr id="22" name="Rectangle 21"/>
          <p:cNvSpPr/>
          <p:nvPr/>
        </p:nvSpPr>
        <p:spPr>
          <a:xfrm>
            <a:off x="777240"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95020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199132" y="420624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9132"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941832"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Place approval before external messages, record changes and high-impact decisions.</a:t>
            </a:r>
          </a:p>
        </p:txBody>
      </p:sp>
      <p:sp>
        <p:nvSpPr>
          <p:cNvPr id="27" name="Rectangle 26"/>
          <p:cNvSpPr/>
          <p:nvPr/>
        </p:nvSpPr>
        <p:spPr>
          <a:xfrm>
            <a:off x="4407408"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07408" y="395020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829300" y="420624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29300"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4572000"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Make actions idempotent and log state transitions, evidence and errors.</a:t>
            </a:r>
          </a:p>
        </p:txBody>
      </p:sp>
      <p:sp>
        <p:nvSpPr>
          <p:cNvPr id="32" name="Rectangle 31"/>
          <p:cNvSpPr/>
          <p:nvPr/>
        </p:nvSpPr>
        <p:spPr>
          <a:xfrm>
            <a:off x="8037576"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37576" y="395020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459468" y="420624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59468"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6</a:t>
            </a:r>
          </a:p>
        </p:txBody>
      </p:sp>
      <p:sp>
        <p:nvSpPr>
          <p:cNvPr id="36" name="TextBox 35"/>
          <p:cNvSpPr txBox="1"/>
          <p:nvPr/>
        </p:nvSpPr>
        <p:spPr>
          <a:xfrm>
            <a:off x="8202168"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Provide timeout, retry, exception queue and manual completion routes.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Automating Multi-Step HR Workflows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An onboarding case enters RECEIVED and fails if Employee_ID, Start_Date or Location is absent.</a:t>
            </a:r>
          </a:p>
          <a:p>
            <a:pPr>
              <a:spcAft>
                <a:spcPts val="1000"/>
              </a:spcAft>
            </a:pPr>
            <a:r>
              <a:rPr sz="1600" b="0">
                <a:solidFill>
                  <a:srgbClr val="161B26"/>
                </a:solidFill>
                <a:latin typeface="Arial"/>
              </a:rPr>
              <a:t>•  The model drafts the plan from approved policy; HR reviews exceptions and approves task creation.</a:t>
            </a:r>
          </a:p>
          <a:p>
            <a:pPr>
              <a:spcAft>
                <a:spcPts val="1000"/>
              </a:spcAft>
            </a:pPr>
            <a:r>
              <a:rPr sz="1600" b="0">
                <a:solidFill>
                  <a:srgbClr val="161B26"/>
                </a:solidFill>
                <a:latin typeface="Arial"/>
              </a:rPr>
              <a:t>•  A repeated event with the same case key returns ALREADY_PROCESSED instead of creating duplicate tasks.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process has stable states, frequent handoffs and observable completion conditions.</a:t>
            </a:r>
          </a:p>
          <a:p>
            <a:pPr>
              <a:spcAft>
                <a:spcPts val="1000"/>
              </a:spcAft>
            </a:pPr>
            <a:r>
              <a:rPr sz="1400" b="0">
                <a:solidFill>
                  <a:srgbClr val="5B6372"/>
                </a:solidFill>
                <a:latin typeface="Arial"/>
              </a:rPr>
              <a:t>–  Owners can define action permissions, approvals, exception service levels and fallback.</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workflow is still changing daily and no stable current process exists.</a:t>
            </a:r>
          </a:p>
          <a:p>
            <a:pPr>
              <a:spcAft>
                <a:spcPts val="1000"/>
              </a:spcAft>
            </a:pPr>
            <a:r>
              <a:rPr sz="1400" b="0">
                <a:solidFill>
                  <a:srgbClr val="5B6372"/>
                </a:solidFill>
                <a:latin typeface="Arial"/>
              </a:rPr>
              <a:t>–  Failures cannot be detected, reversed or completed through a manual route.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Automating Multi-Step HR Workflows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Deterministic</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Rules own identifiers, dates, completeness, duplicates and thresholds.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Bounded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Model tasks have explicit inputs, outputs and escalation.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Recoverable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failure has an owner, retry rule and manual path.</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Integrating Agents with HR Systems and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integration contract describes one tool call: authenticated identity, permitted operation, input schema, output schema, data scope, validation, timeout, retry, error handling, evidence and owner. Read, calculate, draft and action tools should remain distinct.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connector inherits technical reach that may exceed the business use case. Explicit contracts reduce over-broad access and make it possible to test whether a run read the right record, used the right version and changed only what an authorised person approved.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Integrating Agents with HR Systems and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99132"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913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941832"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Use a service or user identity with least privilege and a named owner.</a:t>
            </a:r>
          </a:p>
        </p:txBody>
      </p:sp>
      <p:sp>
        <p:nvSpPr>
          <p:cNvPr id="12" name="Rectangle 11"/>
          <p:cNvSpPr/>
          <p:nvPr/>
        </p:nvSpPr>
        <p:spPr>
          <a:xfrm>
            <a:off x="4407408"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29300"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9300"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4572000"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Whitelist operations, fields, destinations and case types; deny everything else.</a:t>
            </a:r>
          </a:p>
        </p:txBody>
      </p:sp>
      <p:sp>
        <p:nvSpPr>
          <p:cNvPr id="17" name="Rectangle 16"/>
          <p:cNvSpPr/>
          <p:nvPr/>
        </p:nvSpPr>
        <p:spPr>
          <a:xfrm>
            <a:off x="8037576"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59468"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59468"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202168"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Validate input and output schemas and reject unexpected fields or embedded instructions.</a:t>
            </a:r>
          </a:p>
        </p:txBody>
      </p:sp>
      <p:sp>
        <p:nvSpPr>
          <p:cNvPr id="22" name="Rectangle 21"/>
          <p:cNvSpPr/>
          <p:nvPr/>
        </p:nvSpPr>
        <p:spPr>
          <a:xfrm>
            <a:off x="777240"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95020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199132" y="420624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9132"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941832"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Require approval tokens for write, send and status-change actions.</a:t>
            </a:r>
          </a:p>
        </p:txBody>
      </p:sp>
      <p:sp>
        <p:nvSpPr>
          <p:cNvPr id="27" name="Rectangle 26"/>
          <p:cNvSpPr/>
          <p:nvPr/>
        </p:nvSpPr>
        <p:spPr>
          <a:xfrm>
            <a:off x="4407408"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07408" y="395020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829300" y="420624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29300"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4572000"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Use correlation and idempotency keys to link events and prevent duplicate effects.</a:t>
            </a:r>
          </a:p>
        </p:txBody>
      </p:sp>
      <p:sp>
        <p:nvSpPr>
          <p:cNvPr id="32" name="Rectangle 31"/>
          <p:cNvSpPr/>
          <p:nvPr/>
        </p:nvSpPr>
        <p:spPr>
          <a:xfrm>
            <a:off x="8037576"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37576" y="395020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459468" y="420624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59468"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6</a:t>
            </a:r>
          </a:p>
        </p:txBody>
      </p:sp>
      <p:sp>
        <p:nvSpPr>
          <p:cNvPr id="36" name="TextBox 35"/>
          <p:cNvSpPr txBox="1"/>
          <p:nvPr/>
        </p:nvSpPr>
        <p:spPr>
          <a:xfrm>
            <a:off x="8202168" y="4828032"/>
            <a:ext cx="3044952" cy="1005840"/>
          </a:xfrm>
          <a:prstGeom prst="rect">
            <a:avLst/>
          </a:prstGeom>
          <a:noFill/>
        </p:spPr>
        <p:txBody>
          <a:bodyPr wrap="square" anchor="ctr">
            <a:spAutoFit/>
          </a:bodyPr>
          <a:lstStyle/>
          <a:p>
            <a:pPr algn="ctr">
              <a:spcAft>
                <a:spcPts val="400"/>
              </a:spcAft>
            </a:pPr>
            <a:r>
              <a:rPr sz="1300" b="0">
                <a:solidFill>
                  <a:srgbClr val="161B26"/>
                </a:solidFill>
                <a:latin typeface="Arial"/>
              </a:rPr>
              <a:t>Log tool name, parameters, result, latency, error and approving role without exposing unnecessary data.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Integrating Agents with HR Systems and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ReadPolicy accepts Policy_ID and As_Of_Date and returns approved text, owner and effective date.</a:t>
            </a:r>
          </a:p>
          <a:p>
            <a:pPr>
              <a:spcAft>
                <a:spcPts val="1000"/>
              </a:spcAft>
            </a:pPr>
            <a:r>
              <a:rPr sz="1600" b="0">
                <a:solidFill>
                  <a:srgbClr val="161B26"/>
                </a:solidFill>
                <a:latin typeface="Arial"/>
              </a:rPr>
              <a:t>•  CreateOnboardingTask accepts a validated case key and approval token but cannot edit employee records.</a:t>
            </a:r>
          </a:p>
          <a:p>
            <a:pPr>
              <a:spcAft>
                <a:spcPts val="1000"/>
              </a:spcAft>
            </a:pPr>
            <a:r>
              <a:rPr sz="1600" b="0">
                <a:solidFill>
                  <a:srgbClr val="161B26"/>
                </a:solidFill>
                <a:latin typeface="Arial"/>
              </a:rPr>
              <a:t>•  SendMessage remains disabled in the sandbox; the lab records a simulated message and complete audit line.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stable API, connector or controlled file interface has an accountable system owner.</a:t>
            </a:r>
          </a:p>
          <a:p>
            <a:pPr>
              <a:spcAft>
                <a:spcPts val="1000"/>
              </a:spcAft>
            </a:pPr>
            <a:r>
              <a:rPr sz="1400" b="0">
                <a:solidFill>
                  <a:srgbClr val="5B6372"/>
                </a:solidFill>
                <a:latin typeface="Arial"/>
              </a:rPr>
              <a:t>–  The workflow can prove the identity, scope and effect of each tool call.</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Using a shared administrator account or exposing an entire system to simplify a prototype.</a:t>
            </a:r>
          </a:p>
          <a:p>
            <a:pPr>
              <a:spcAft>
                <a:spcPts val="1000"/>
              </a:spcAft>
            </a:pPr>
            <a:r>
              <a:rPr sz="1400" b="0">
                <a:solidFill>
                  <a:srgbClr val="5B6372"/>
                </a:solidFill>
                <a:latin typeface="Arial"/>
              </a:rPr>
              <a:t>–  Allowing retrieved documents to redefine tool permissions or bypass approval.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Integrating Agents with HR Systems and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Authorised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Identity and operation match the current user's and workflow's authority.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Validated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Schemas, values, destinations and effects are checked.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Auditable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call and approval is linked to one traceable case.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Governance, Fairness and Human Oversight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HR AI governance assigns decision rights and controls across purpose, data, model, tools, users, evaluation, operation and incident response. Human oversight is a designed decision point with evidence, authority, time and fallback, not a generic instruction to review.</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HR systems can affect access to work, employee experience and personal data. Trust depends on job-related criteria, proportionate data use, transparent limitations, tested performance, meaningful review and a route for correction or challenge.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Governance, Fairness and Human Oversight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99132"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913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941832"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Inventory the use case, affected people, decisions, data, vendors and owners.</a:t>
            </a:r>
          </a:p>
        </p:txBody>
      </p:sp>
      <p:sp>
        <p:nvSpPr>
          <p:cNvPr id="12" name="Rectangle 11"/>
          <p:cNvSpPr/>
          <p:nvPr/>
        </p:nvSpPr>
        <p:spPr>
          <a:xfrm>
            <a:off x="4407408"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29300"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9300"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4572000" y="2633472"/>
            <a:ext cx="3044952" cy="1005840"/>
          </a:xfrm>
          <a:prstGeom prst="rect">
            <a:avLst/>
          </a:prstGeom>
          <a:noFill/>
        </p:spPr>
        <p:txBody>
          <a:bodyPr wrap="square" anchor="ctr">
            <a:spAutoFit/>
          </a:bodyPr>
          <a:lstStyle/>
          <a:p>
            <a:pPr algn="ctr">
              <a:spcAft>
                <a:spcPts val="400"/>
              </a:spcAft>
            </a:pPr>
            <a:r>
              <a:rPr sz="1300" b="0">
                <a:solidFill>
                  <a:srgbClr val="161B26"/>
                </a:solidFill>
                <a:latin typeface="Arial"/>
              </a:rPr>
              <a:t>Map benefits and harms, including privacy, bias, exclusion, security and automation overreach.</a:t>
            </a:r>
          </a:p>
        </p:txBody>
      </p:sp>
      <p:sp>
        <p:nvSpPr>
          <p:cNvPr id="17" name="Rectangle 16"/>
          <p:cNvSpPr/>
          <p:nvPr/>
        </p:nvSpPr>
        <p:spPr>
          <a:xfrm>
            <a:off x="8037576"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59468"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59468"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202168" y="2633472"/>
            <a:ext cx="3044952" cy="1005840"/>
          </a:xfrm>
          <a:prstGeom prst="rect">
            <a:avLst/>
          </a:prstGeom>
          <a:noFill/>
        </p:spPr>
        <p:txBody>
          <a:bodyPr wrap="square" anchor="ctr">
            <a:spAutoFit/>
          </a:bodyPr>
          <a:lstStyle/>
          <a:p>
            <a:pPr algn="ctr">
              <a:spcAft>
                <a:spcPts val="400"/>
              </a:spcAft>
            </a:pPr>
            <a:r>
              <a:rPr sz="1300" b="0">
                <a:solidFill>
                  <a:srgbClr val="161B26"/>
                </a:solidFill>
                <a:latin typeface="Arial"/>
              </a:rPr>
              <a:t>Choose human involvement by impact, uncertainty, reversibility and affected-person expectations.</a:t>
            </a:r>
          </a:p>
        </p:txBody>
      </p:sp>
      <p:sp>
        <p:nvSpPr>
          <p:cNvPr id="22" name="Rectangle 21"/>
          <p:cNvSpPr/>
          <p:nvPr/>
        </p:nvSpPr>
        <p:spPr>
          <a:xfrm>
            <a:off x="777240"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95020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199132" y="420624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9132"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941832"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Test source accuracy, unsafe actions, subgroup effects, deferral and override behaviour.</a:t>
            </a:r>
          </a:p>
        </p:txBody>
      </p:sp>
      <p:sp>
        <p:nvSpPr>
          <p:cNvPr id="27" name="Rectangle 26"/>
          <p:cNvSpPr/>
          <p:nvPr/>
        </p:nvSpPr>
        <p:spPr>
          <a:xfrm>
            <a:off x="4407408"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07408" y="395020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829300" y="420624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29300"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4572000"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Communicate purpose, limitations, data use and routes for questions or correction.</a:t>
            </a:r>
          </a:p>
        </p:txBody>
      </p:sp>
      <p:sp>
        <p:nvSpPr>
          <p:cNvPr id="32" name="Rectangle 31"/>
          <p:cNvSpPr/>
          <p:nvPr/>
        </p:nvSpPr>
        <p:spPr>
          <a:xfrm>
            <a:off x="8037576"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37576" y="395020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459468" y="420624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59468"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6</a:t>
            </a:r>
          </a:p>
        </p:txBody>
      </p:sp>
      <p:sp>
        <p:nvSpPr>
          <p:cNvPr id="36" name="TextBox 35"/>
          <p:cNvSpPr txBox="1"/>
          <p:nvPr/>
        </p:nvSpPr>
        <p:spPr>
          <a:xfrm>
            <a:off x="8202168"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Monitor incidents, complaints, drift, reviewer changes and policy updates after launch.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Governance, Fairness and Human Oversight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candidate assistant may propose rubric evidence but cannot reject, rank on protected traits or contact candidates.</a:t>
            </a:r>
          </a:p>
          <a:p>
            <a:pPr>
              <a:spcAft>
                <a:spcPts val="1000"/>
              </a:spcAft>
            </a:pPr>
            <a:r>
              <a:rPr sz="1600" b="0">
                <a:solidFill>
                  <a:srgbClr val="161B26"/>
                </a:solidFill>
                <a:latin typeface="Arial"/>
              </a:rPr>
              <a:t>•  A trained panel sees the source, unknowns and proposed score and records the final decision and reason.</a:t>
            </a:r>
          </a:p>
          <a:p>
            <a:pPr>
              <a:spcAft>
                <a:spcPts val="1000"/>
              </a:spcAft>
            </a:pPr>
            <a:r>
              <a:rPr sz="1600" b="0">
                <a:solidFill>
                  <a:srgbClr val="161B26"/>
                </a:solidFill>
                <a:latin typeface="Arial"/>
              </a:rPr>
              <a:t>•  Monthly review compares subgroup selection, deferral and correction rates and investigates material gaps.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Before pilot, after material changes and throughout operation.</a:t>
            </a:r>
          </a:p>
          <a:p>
            <a:pPr>
              <a:spcAft>
                <a:spcPts val="1000"/>
              </a:spcAft>
            </a:pPr>
            <a:r>
              <a:rPr sz="1400" b="0">
                <a:solidFill>
                  <a:srgbClr val="5B6372"/>
                </a:solidFill>
                <a:latin typeface="Arial"/>
              </a:rPr>
              <a:t>–  The organisation can assign business, HR, data, technology, privacy and risk ownership.</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Treating policy approval as a substitute for testing actual cases and workflow behaviour.</a:t>
            </a:r>
          </a:p>
          <a:p>
            <a:pPr>
              <a:spcAft>
                <a:spcPts val="1000"/>
              </a:spcAft>
            </a:pPr>
            <a:r>
              <a:rPr sz="1400" b="0">
                <a:solidFill>
                  <a:srgbClr val="5B6372"/>
                </a:solidFill>
                <a:latin typeface="Arial"/>
              </a:rPr>
              <a:t>–  Using a human reviewer who lacks evidence, authority, time or a meaningful ability to change the result.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Governance, Fairness and Human Oversight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Human-centric</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People outcomes, recourse and responsible decision rights shape the design.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Fair</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Job-related criteria and subgroup effects are examined with context.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Transparent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Purpose, limits, sources, decisions and correction routes are visible.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Rolling Out Agentic AI in Your Organisation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Rollout is a staged operating change. A use case moves through discovery, synthetic sandbox, shadow run, read-only pilot and controlled operation only when value, quality, safety, ownership, support and fallback evidence meet defined gates.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successful prompt is not an operating service. HR adoption also requires current data, trained reviewers, employee communication, monitoring, support, incident response, change control and a manual route when the system is unavailable or unsafe.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Rolling Out Agentic AI in Your Organisation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99132"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913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941832"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Prioritise one bounded use case by value, feasibility, data readiness and residual risk.</a:t>
            </a:r>
          </a:p>
        </p:txBody>
      </p:sp>
      <p:sp>
        <p:nvSpPr>
          <p:cNvPr id="12" name="Rectangle 11"/>
          <p:cNvSpPr/>
          <p:nvPr/>
        </p:nvSpPr>
        <p:spPr>
          <a:xfrm>
            <a:off x="4407408"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29300"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9300"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4572000"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Set a manual baseline, outcome metric, quality metric, risk metric and stop threshold.</a:t>
            </a:r>
          </a:p>
        </p:txBody>
      </p:sp>
      <p:sp>
        <p:nvSpPr>
          <p:cNvPr id="17" name="Rectangle 16"/>
          <p:cNvSpPr/>
          <p:nvPr/>
        </p:nvSpPr>
        <p:spPr>
          <a:xfrm>
            <a:off x="8037576" y="175564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556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59468"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59468"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202168" y="263347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Test on representative synthetic cases and repair failures before connecting live data.</a:t>
            </a:r>
          </a:p>
        </p:txBody>
      </p:sp>
      <p:sp>
        <p:nvSpPr>
          <p:cNvPr id="22" name="Rectangle 21"/>
          <p:cNvSpPr/>
          <p:nvPr/>
        </p:nvSpPr>
        <p:spPr>
          <a:xfrm>
            <a:off x="777240"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95020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199132" y="420624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9132"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941832"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Run in shadow or read-only mode and compare outputs with the approved current process.</a:t>
            </a:r>
          </a:p>
        </p:txBody>
      </p:sp>
      <p:sp>
        <p:nvSpPr>
          <p:cNvPr id="27" name="Rectangle 26"/>
          <p:cNvSpPr/>
          <p:nvPr/>
        </p:nvSpPr>
        <p:spPr>
          <a:xfrm>
            <a:off x="4407408"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07408" y="395020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829300" y="420624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29300"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4572000" y="4828032"/>
            <a:ext cx="3044952" cy="1005840"/>
          </a:xfrm>
          <a:prstGeom prst="rect">
            <a:avLst/>
          </a:prstGeom>
          <a:noFill/>
        </p:spPr>
        <p:txBody>
          <a:bodyPr wrap="square" anchor="ctr">
            <a:spAutoFit/>
          </a:bodyPr>
          <a:lstStyle/>
          <a:p>
            <a:pPr algn="ctr">
              <a:spcAft>
                <a:spcPts val="400"/>
              </a:spcAft>
            </a:pPr>
            <a:r>
              <a:rPr sz="1400" b="0">
                <a:solidFill>
                  <a:srgbClr val="161B26"/>
                </a:solidFill>
                <a:latin typeface="Arial"/>
              </a:rPr>
              <a:t>Pilot with limited users, data and actions; train reviewers and communicate limitations.</a:t>
            </a:r>
          </a:p>
        </p:txBody>
      </p:sp>
      <p:sp>
        <p:nvSpPr>
          <p:cNvPr id="32" name="Rectangle 31"/>
          <p:cNvSpPr/>
          <p:nvPr/>
        </p:nvSpPr>
        <p:spPr>
          <a:xfrm>
            <a:off x="8037576" y="3950208"/>
            <a:ext cx="3374136" cy="1975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37576" y="395020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459468" y="420624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59468" y="420624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6</a:t>
            </a:r>
          </a:p>
        </p:txBody>
      </p:sp>
      <p:sp>
        <p:nvSpPr>
          <p:cNvPr id="36" name="TextBox 35"/>
          <p:cNvSpPr txBox="1"/>
          <p:nvPr/>
        </p:nvSpPr>
        <p:spPr>
          <a:xfrm>
            <a:off x="8202168" y="4828032"/>
            <a:ext cx="3044952" cy="1005840"/>
          </a:xfrm>
          <a:prstGeom prst="rect">
            <a:avLst/>
          </a:prstGeom>
          <a:noFill/>
        </p:spPr>
        <p:txBody>
          <a:bodyPr wrap="square" anchor="ctr">
            <a:spAutoFit/>
          </a:bodyPr>
          <a:lstStyle/>
          <a:p>
            <a:pPr algn="ctr">
              <a:spcAft>
                <a:spcPts val="400"/>
              </a:spcAft>
            </a:pPr>
            <a:r>
              <a:rPr sz="1300" b="0">
                <a:solidFill>
                  <a:srgbClr val="161B26"/>
                </a:solidFill>
                <a:latin typeface="Arial"/>
              </a:rPr>
              <a:t>Monitor, review, version, roll back or retire through named governance and support owners.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Rolling Out Agentic AI in Your Organisation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Asteron pilots policy-grounded onboarding support for one office and two trained HR reviewers.</a:t>
            </a:r>
          </a:p>
          <a:p>
            <a:pPr>
              <a:spcAft>
                <a:spcPts val="1000"/>
              </a:spcAft>
            </a:pPr>
            <a:r>
              <a:rPr sz="1600" b="0">
                <a:solidFill>
                  <a:srgbClr val="161B26"/>
                </a:solidFill>
                <a:latin typeface="Arial"/>
              </a:rPr>
              <a:t>•  The pilot tracks resolution quality, grounding-defect rate, escalation accuracy, correction rate and cycle time.</a:t>
            </a:r>
          </a:p>
          <a:p>
            <a:pPr>
              <a:spcAft>
                <a:spcPts val="1000"/>
              </a:spcAft>
            </a:pPr>
            <a:r>
              <a:rPr sz="1600" b="0">
                <a:solidFill>
                  <a:srgbClr val="161B26"/>
                </a:solidFill>
                <a:latin typeface="Arial"/>
              </a:rPr>
              <a:t>•  Any policy-source conflict or unsafe-action attempt stops the run and triggers the documented manual process.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prototype has a measurable baseline, representative tests, named owners and reliable fallback.</a:t>
            </a:r>
          </a:p>
          <a:p>
            <a:pPr>
              <a:spcAft>
                <a:spcPts val="1000"/>
              </a:spcAft>
            </a:pPr>
            <a:r>
              <a:rPr sz="1400" b="0">
                <a:solidFill>
                  <a:srgbClr val="5B6372"/>
                </a:solidFill>
                <a:latin typeface="Arial"/>
              </a:rPr>
              <a:t>–  Users and affected people can understand the system's role and correction path.</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Scaling because the demonstration looked fluent or because a platform is already licensed.</a:t>
            </a:r>
          </a:p>
          <a:p>
            <a:pPr>
              <a:spcAft>
                <a:spcPts val="1000"/>
              </a:spcAft>
            </a:pPr>
            <a:r>
              <a:rPr sz="1400" b="0">
                <a:solidFill>
                  <a:srgbClr val="5B6372"/>
                </a:solidFill>
                <a:latin typeface="Arial"/>
              </a:rPr>
              <a:t>–  Removing the manual route before reliability, support and recovery have been demonstrated.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Rolling Out Agentic AI in Your Organisation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Staged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Exposure grows only after evidence-based gates are met.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Measured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Value, quality, fairness, safety and operating health are monitored.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Operated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Owners, support, incidents, changes, fallback and retirement are defined.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Deploy Agentic AI Across the HR Function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Simulate the Controlled Onboarding Workflow</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the Governance Gate and Rollout Plan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Simulate the Controlled Onboarding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convert the Lab 4 onboarding plan into a state-based workflow. ReadPolicy, DraftPlan and CreateTask are represented by explicit tool contracts; write and send effects remain simulated. You will run normal, missing-data, duplicate and policy-conflict cases and reconcile every final state.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03-deployment/onboarding-workflow-spec.md and 03-deployment/workflow-run-log.csv with states, transition rules, tool contracts, four complete traces, human approvals, stop reasons and manual fallback.</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Map states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Contract tools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Run four cases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Reconcile evidence</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Text editor - spreadsheet - approved AI assistant - workflow-cases.csv - workflow-run-log-template.csv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Simulate the Controlled Onboarding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700" b="0">
                <a:solidFill>
                  <a:srgbClr val="161B26"/>
                </a:solidFill>
                <a:latin typeface="Arial"/>
              </a:rPr>
              <a:t>The workflow specification must contain all nine states, three tool contracts, an approval gate and manual fallback. The run log must show WF-001 CLOSED and WF-002 to WF-004 STOPPED with the specified reasons; four terminal states must reconcile, no simulated Task_ID may repeat, and no external action may occur.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Run the Governance Gate and Rollout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evaluate the recruitment and onboarding agents against normal, boundary, missing-source, unsafe-action and fairness-relevant cases. You will calculate quality and subgroup indicators, inspect reviewer changes, set release thresholds and write a staged rollout with named owners, monitoring and rollback.</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03-deployment/governance-evaluation.csv and 03-deployment/hr-agent-rollout-plan.md with risk controls, calculated metrics, fairness investigation, release decision, pilot stages, owners, monitoring and fallback.</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Map risks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Run evaluation</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Set release gate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Plan staged rollout</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governance-test-cases.csv - outputs from Labs 2-5</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Run the Governance Gate and Rollout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429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26080"/>
            <a:ext cx="10058400" cy="2377440"/>
          </a:xfrm>
          <a:prstGeom prst="rect">
            <a:avLst/>
          </a:prstGeom>
          <a:noFill/>
        </p:spPr>
        <p:txBody>
          <a:bodyPr wrap="square" anchor="t">
            <a:spAutoFit/>
          </a:bodyPr>
          <a:lstStyle/>
          <a:p>
            <a:pPr algn="l">
              <a:spcAft>
                <a:spcPts val="400"/>
              </a:spcAft>
            </a:pPr>
            <a:r>
              <a:rPr sz="1700" b="0">
                <a:solidFill>
                  <a:srgbClr val="161B26"/>
                </a:solidFill>
                <a:latin typeface="Arial"/>
              </a:rPr>
              <a:t>The evaluation file must contain ten tests with expected, actual, pass, severity and evidence; all four quality metrics and both subgroup selection and deferral rates must show formulas and denominators. The rollout plan must cover six risk types, six owner roles, four stages, five monitoring dimensions, explicit gates, a release decision and a tested manual fallback. Critical pass rate must be 100% before any pilot approval.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Deploy Agentic AI Across the HR Function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LO3: build and test a multi-step HR workflow with approved data, limited tools, human gates and complete run evidence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LO4: evaluate privacy, fairness, security and operating risk and produce a staged rollout with owners, metrics and fallback</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Prompt &amp; Ground</a:t>
            </a:r>
          </a:p>
          <a:p>
            <a:pPr algn="l">
              <a:spcAft>
                <a:spcPts val="300"/>
              </a:spcAft>
            </a:pPr>
            <a:r>
              <a:rPr sz="1300" b="0">
                <a:solidFill>
                  <a:srgbClr val="5B6372"/>
                </a:solidFill>
                <a:latin typeface="Arial"/>
              </a:rPr>
              <a:t>Use an approved AI assistant with a structured prompt, source boundary and human review method for everyday HR 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Design HR Agents</a:t>
            </a:r>
          </a:p>
          <a:p>
            <a:pPr algn="l">
              <a:spcAft>
                <a:spcPts val="300"/>
              </a:spcAft>
            </a:pPr>
            <a:r>
              <a:rPr sz="1300" b="0">
                <a:solidFill>
                  <a:srgbClr val="5B6372"/>
                </a:solidFill>
                <a:latin typeface="Arial"/>
              </a:rPr>
              <a:t>Design bounded recruitment, onboarding, employee-support and communication agents with job-related criteria and explicit human decisions.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Automate &amp; Verify</a:t>
            </a:r>
          </a:p>
          <a:p>
            <a:pPr algn="l">
              <a:spcAft>
                <a:spcPts val="300"/>
              </a:spcAft>
            </a:pPr>
            <a:r>
              <a:rPr sz="1300" b="0">
                <a:solidFill>
                  <a:srgbClr val="5B6372"/>
                </a:solidFill>
                <a:latin typeface="Arial"/>
              </a:rPr>
              <a:t>Build and test a multi-step HR workflow that connects approved data and tools while preserving exceptions, approvals and run evidence.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Govern &amp; Roll Out</a:t>
            </a:r>
          </a:p>
          <a:p>
            <a:pPr algn="l">
              <a:spcAft>
                <a:spcPts val="300"/>
              </a:spcAft>
            </a:pPr>
            <a:r>
              <a:rPr sz="1300" b="0">
                <a:solidFill>
                  <a:srgbClr val="5B6372"/>
                </a:solidFill>
                <a:latin typeface="Arial"/>
              </a:rPr>
              <a:t>Evaluate privacy, fairness, security and operating risk, then produce a staged rollout plan with owners, metrics, monitoring and fallback.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Continue with a Read-Only HR 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Choose one bounded HR support task with current approved sources and an accountable owner.</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Create a prompt contract, workflow map and representative evaluation set.</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Run in shadow mode, compare with the approved process and capture every correction.</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Expand only when value, quality, fairness, privacy, support and fallback thresholds are met.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your downloaded C820 course files and use the lab checkpoints to restart safely.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C820 - KEEP PEOPLE DECISIONS HUMAN-OWNED</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prompt, design, test and roll out HR agents that keep evidence visible and consequential people decisions human-owned.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HR  ·  C820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