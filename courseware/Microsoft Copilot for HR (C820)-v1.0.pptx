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6" r:id="rId208"/>
    <p:sldId id="457" r:id="rId2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0" Type="http://schemas.openxmlformats.org/officeDocument/2006/relationships/slide" Target="slides/slide13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CB8C4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72</c:v>
                </c:pt>
                <c:pt idx="2">
                  <c:v>35</c:v>
                </c:pt>
                <c:pt idx="3">
                  <c:v>68</c:v>
                </c:pt>
                <c:pt idx="4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 target</c:v>
                </c:pt>
              </c:strCache>
            </c:strRef>
          </c:tx>
          <c:spPr>
            <a:solidFill>
              <a:srgbClr val="238C5C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90</c:v>
                </c:pt>
                <c:pt idx="2">
                  <c:v>65</c:v>
                </c:pt>
                <c:pt idx="3">
                  <c:v>80</c:v>
                </c:pt>
                <c:pt idx="4">
                  <c:v>92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https://www.tertiarycourses.com.sg/microsoft-copilot-for-hr.html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https://www.hrci.org/community/blogs-and-announcements/hr-leads-business-blog/hr-leads-business/2025/08/21/agentic-ai-in-hr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https://www.auxis.com/ai-in-hr-examples-types-use-cases-best-practices/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https://www.microsoft.com/en-us/microsoft-copilot/blog/copilot-studio/transform-hr-with-ai-powered-agents/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https://adoption.microsoft.com/en-us/ai-agents/employee-self-service-agent/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https://www.zendesk.com/blog/ai/workflow-automation/ai-in-hr/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https://www.mom.gov.sg/employment-practices/fair-consideration-framework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https://www.hrci.org/community/blogs-and-announcements/hr-leads-business-blog/hr-leads-business/2025/08/21/agentic-ai-in-hr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https://github.com/tertiarycourses/C820-Microsoft-Copilot-for-HR/tree/main/labs/Lab-12-hr-agent-control-room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47472"/>
            <a:ext cx="393192" cy="393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0368" y="429768"/>
            <a:ext cx="914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NON-WSQ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212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NON-WSQ COURSE • HUMAN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5303520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0C2340"/>
                </a:solidFill>
                <a:latin typeface="Aptos"/>
              </a:rPr>
              <a:t>Microsoft Copilot for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489204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C2430"/>
                </a:solidFill>
                <a:latin typeface="Aptos"/>
              </a:rPr>
              <a:t>Reduce HR administration with Copilot and governed agents—returning time to faster service, better decisions and strategic people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475488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9663"/>
            <a:ext cx="4297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C820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4297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2 days / 15 instructional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97880"/>
            <a:ext cx="5303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576"/>
                </a:solidFill>
                <a:latin typeface="Aptos"/>
              </a:rPr>
              <a:t>Trainer: Dr. Alfred Ang  |  Version 1.0  |  4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63056"/>
            <a:ext cx="5303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Tertiary Infotech Academy Pte Ltd  |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0"/>
            <a:ext cx="109728" cy="6858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514600"/>
            <a:ext cx="82296" cy="9875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7792"/>
            <a:ext cx="96926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 ·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General Trainer template —
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173224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173224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282952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TITLE / DESIGNATION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64664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2929128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929128"/>
            <a:ext cx="54864" cy="65532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3885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38C5C"/>
                </a:solidFill>
                <a:latin typeface="Aptos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020568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685032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3685032"/>
            <a:ext cx="54864" cy="65532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EE7E20"/>
                </a:solidFill>
                <a:latin typeface="Aptos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76472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440936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440936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87368" y="455066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TRAINING &amp; INDUSTRY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2375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5196839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5196839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5306567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288279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Principal Trainer
Tertiary Infotech Academy Pte Ltd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Principal Trainer, Tertiary Infotech Academy Pte Ltd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551176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551176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66090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42616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PhD · 20+ years of industry and training experience in business, technology, analytics and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685032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685032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76472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Professional development in AI transformation, data analytics and responsible adoption.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818888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4818888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492861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Founder and lead instructor at Tertiary Infotech / Tertiary Courses.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Let's Know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ICE-BREAKER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name and organisation or HR role.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experience with Microsoft 365 Copilot, Copilot Studio or HR automation, if any.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One HR process you would like to improve with generative or agentic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HOUSEKEEPING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178308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926080"/>
            <a:ext cx="73152" cy="114300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2926080"/>
            <a:ext cx="73152" cy="114300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3264408"/>
            <a:ext cx="457200" cy="457200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07408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745736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5" y="4407408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4745736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data only; protect personal information.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PORTAL · LMS/TMS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673352"/>
            <a:ext cx="52120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484632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50749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Microsoft Copilot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79192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98064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Trainer Slides (PDF) 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00984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419856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Learner Guide (PDF) 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22776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41648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 Files 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44568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663440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Learner Slides (PDF)  ↓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Sign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your registered email and OTP or password.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Open your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Select Microsoft Copilot for HR under My Courses.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Download 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Keep the slides and Learner Guide for reference after the course.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Share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Complete the course feedback form at the end of Day 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HR AI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TOOLS · ALL 12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71BC"/>
                </a:solidFill>
                <a:latin typeface="Aptos"/>
              </a:rPr>
              <a:t>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48256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4617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8C5C"/>
                </a:solidFill>
                <a:latin typeface="Aptos"/>
              </a:rPr>
              <a:t>AGENTIC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Agent Builder in
Microsoft 365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
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50749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Create with Copilot · orchestrate with agents · govern with human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Start from the supplied activity records.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Create or 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Microsoft 365 Copilot with approved context.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Build bounded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Agent Builder or Copilot Studio for governed workflows.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Test and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Save prompts, checks, revisions and human approvals.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Lesson Plan — 2 Days, 9:30am–5:30pm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DAY 1 · FRAME &amp;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Welcome, pain points and 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1 · From Generative AI to Agentic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1–3 · Talent need, JD and resume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2 · Microsoft 365 Copilot across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Labs 4–6 · Interview, onboarding and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5" y="146304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DAY 2 · ORCHESTRATE &amp; 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5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Retrieval practice and Unit 3 · Governed HR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5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7–9 · Policy, leave and benefits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5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4 · Responsible adoption and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5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3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Labs 10–12 · Wellness, offboarding and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5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Capstone debrief, action plan and course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Course Outline — Four Learning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521208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5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5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6616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566160"/>
            <a:ext cx="5212080" cy="7315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5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LEARNING 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Today's HR operating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Fragmented channels and repeated hand-offs trap HR capacity in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Requests arrive through email, forms and chat with no shared case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 rekeys the same data across trackers, documents and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Employees and managers wait for inconsistent answers and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Evidence, ownership and exceptions are difficult to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strategic case for HR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Automate routine work so HR can deliver faster service and more strategic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Reduce administrative work and avoidable rekeying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Improve productivity, efficiency and response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capacity to workforce strategy, coaching and employee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human-AI partnerships to connect the people agenda to 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now: the people and AI agendas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must build internal capability while helping the enterprise navigate AI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79% of surveyed leaders expected GenAI to substantially transform their organisation or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72% expected GenAI to change talent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Only 23% reported GenAI investment in HR in the cited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81% said business and people agendas had never been more intertwined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HR AI continuum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Automation follows rules; copilots create; agents pursue bounded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Rules automate predictable hand-offs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 drafts, summarises and analyses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Agents reason, plan, use tools and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Humans retain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shifts in HR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moves from efficiency to new human and enterprise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Automate: eliminate repetitive work about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Augment: support people to improve productivity and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Extend: analyse and personalise at a scale humans 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Create: design, test and operate new AI-enabled HR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HR's own AI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moves incrementally from AI-assisted to AI-augmented and AI-powered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AI-assisted: humans own the work with moderate AI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AI-augmented: people and AI collaborate with frequent hand-offs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AI-powered: AI handles bounded work while people monitor and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Fully autonomous HR remains rare; human accountability endures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Conventional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Requests arrive through email and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Specialists search systems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Approvals cross organisational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Evidence is scattered across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Copilot-assisted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human remains the operator while Copilot accelerates knowledge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prompts in approved work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Generate a first draft, not a final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and refine with domain expertise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Record source and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Agent-enabled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coordinate a bounded workflow across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Interpret an employee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Retrieve policy and contextual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Call approved tools and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Escalate exceptions with an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Assistant, agent or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the simplest lever that meets the outcome and risk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Copilot: create or analyse with a 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Agent: converse, reason and 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Flow: deterministic 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Hybrid: agent front door plus governed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Microsoft HR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Word and Outlook: content and communication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Excel: evidence and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Teams and SharePoint: collaboration and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Copilot Studio: agents, tools, flows and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AI-powered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HR strategy, governance and portfolio management set value and risk priorities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Workforce solution architects and an innovation hub design human-centred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Solution DevOps and sustainment operate agents, integrations and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People operations and workforce engagement keep employee outcomes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Reliable agents need a goal, knowledge, instructions, tools, boundaries and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Goal defines the employee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Knowledge constrains grounded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Instructions set behaviour and refusal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Tools act; tests prove expected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appears across attract, join, grow, serve and exit.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Attract: workforce planning and recruitment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Join: onboarding and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Grow: performance, learning and mobility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Serve and exit: policy, leave, cases and offboarding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Value without losing the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Reduce repetitive search and drafting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Improve access and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Create capacity for human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Do not automate empathy or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Use-case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Start with frequent, bounded and measurable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High volume and clear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Reliable knowledge and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Reversible actions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 KPI baseline and accountable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Feasibility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good idea is not yet a deployable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Business value and employee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Data readiness and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Technical reach and failure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Risk, change and operating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pilot to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pilot must prove usefulness, control and adoption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baseline and success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Use synthetic data before live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Test normal, edge and adversarial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Assign monitoring, review and retirement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5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forecast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overtime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open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current analysts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forecast growth pct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source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forecast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overtime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open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42000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820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Synthetic operations 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46800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1010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Synthetic operations forecast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53500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1380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New hub scenario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assess talent needs with copilot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period and forecast_orders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Microsoft 365 Copilot to turn operational evidence into a transparent hire, redeploy or develop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Cite the supplied cells and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Talent-demand evidence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period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forecast_orders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Cite the supplied cells and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Business and HR owners approve the demand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2026-Q1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source_note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01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Talent-demand evidence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Skills-gap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Hire-redeploy-develop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Lab-01-Evidence-Workbook.xlsx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1: Assess Talent Needs with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turn operational evidence into a transparent hire, redeploy or develop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Logistics SG is opening a digitally enabled distribution hub. HR receives demand forecasts, overtime data, vacancy history and a skills inventory in separate files, so workforce decisions are slow and reactive.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Talent-demand evidence map
• Skills-gap analysis
• Hire-redeploy-develop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Cite the supplied cells and records
• Separate fact from forecast
• Business and HR owners approve the demand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4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role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essential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trainable skill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success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legacy requirement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review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role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essential 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trainable 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success measure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review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hub data into staffing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Spreadsheet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Weekly plan accepted by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Challenge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Improve workforce scheduling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Demand and capacity reasoning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SQL basics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Overtime variance reduced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Explain insights to managers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Stakeholder communication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Actions documented and owned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draft an inclusive job description with generative ai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role_outcome and essential_skill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Word Copilot to draft a skills-based, inclusive and approval-ready job description grounded in the approved talent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role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Use job-related criteria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Role-outcome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role_outcome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essential_skill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Use job-related criteria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Hiring manager and HR approve every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Translate hub data into staffing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review_status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02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Role-outcome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Inclusive job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Hiring-manager validation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Lab-02-Evidence-Workbook.xlsx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2: Draft an Inclusive Job Description with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draft a skills-based, inclusive and approval-ready job description grounded in the approved talent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Lab 1 established a need for a Workforce Operations Analyst. The old JD is task-heavy, contains copied requirements and does not reflect the outcomes or skills needed at the new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Role-outcome map
• Inclusive job description
• Hiring-manager validation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job-related criteria only
• Distinguish essential from trainable skills
• Hiring manager and HR approve every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candidate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skills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operations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analytics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communication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missing or uncertain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candidate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skills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operations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analytics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missing or uncertain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Excel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Warehouse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Weekly KPI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 SQL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Process mapping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Distribution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 portfolio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Outcomes not quantified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Inventory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Shift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SQL basics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 evidence limited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screen resumes with a fair evidence matrix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candidate_id and skills_evidence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Microsoft 365 Copilot to extract job-related evidence at speed while keeping shortlist decisions human, traceable and reviewable.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Synthetic resumes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evidence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candidate_id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skills_evidence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Synthetic resumes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AI may organise evidence but cannot reject a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missing_or_uncertain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03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Candidate evidence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Uncertainty and bias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Human shortlist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71B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71BC"/>
                </a:solidFill>
                <a:latin typeface="Aptos"/>
              </a:rPr>
              <a:t>Save in Lab-03-Evidence-Workbook.xlsx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3: Screen Resumes with a Fair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extract job-related evidence at speed while keeping shortlist decisions human, traceable and reviewable.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Six synthetic candidates apply for the Workforce Operations Analyst role from Lab 2. Recruiters currently scan resumes inconsistently and retype evidence into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Candidate evidence matrix
• Uncertainty and bias log
• Human shortlist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Synthetic resumes only
• Protected attributes and proxies excluded
• AI may organise evidence but cannot reject a 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3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LEARNING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grounded prompt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Context plus task plus constraints plus evidence produces reviewable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Role and 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Specific task and 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Approved sources and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Output format and verification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Workforce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turn fragmented evidence into an explainable workforce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Summarise demand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Identify capability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Draft role and capacity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Keep assumptions visible for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Job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Translate business need into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essential from trainable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inclusive, job-related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with hiring manager and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Recruitment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adapt one approved proposition across channels without changing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Candidate persona and 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Channel-specific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Consistent salary and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approval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should organise job-related evidence—not make an opaque hiring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Build a disclosed scoring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Extract evidence, uncertainty and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Blind protected attributes where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 human reviews every shortlist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Structured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shared evidence model improves consistency more than clever questions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Behavioural questions tied to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Anchored scoring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Independent notes before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Candidate accessibility and fairness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Candidate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Personalise only from approved 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Avoid inferred sensitive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Give realistic 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tone, accuracy and confidentiality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Policy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accelerates comparison and drafting; policy owners approve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in current policy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Surface conflicts and missing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plain-language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Preserve version, approver and effective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personalised journey connects role, people, policy, systems and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Prepare a role-specific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Summarise must-know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Identify collaboration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access, milestones and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Personalisation across the employee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can tailor support when personalisation is grounded, explainable and correctable.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Onboarding adapts approved tasks to role and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Learning recommendations connect evidenced gaps to approved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Internal mobility surfaces explainable options rather than deterministic rankings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Employee-service agents answer routine questions and escalate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Predictive talent analytics with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Forecasts should guide questions and planning, not make hidden decisions about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Anticipate staffing needs from demand and skills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Identify organisational retention and capability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Test data quality, proxies, drift and uncertainty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Keep high-potential, performance and wellbeing decisions human and contestable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Performance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organise evidence and coaching preparation without replacing the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Summarise agreed goals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Separate observation from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Draft balanced coaching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Manager validates before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and internal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Skills intelligence becomes useful when employees can challenge and update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Map role outcomes to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Recommend explainable learning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Support career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Avoid deterministic potential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Engagement and workforce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Patterns guide questions; they do not diagnose individuals.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Aggregate data to protect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Triangulate survey, service and retention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Show uncertainty and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Convert insight into a human-led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candidate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question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job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evidence excerpt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panel score 1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panel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candidate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question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job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evidence excerpt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panel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data into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Rebuilt a weekly hub report and documented sta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Verify scale and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Improve scheduling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Used demand peaks to propose shift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Strong job-related example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CAND-02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Q1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Translate data into 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Mapped delays and built a Power BI 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Clarify personal contribution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prepare and review structured interviews with ai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candidate_id and question_id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to prepare job-related structured questions, organise synthetic interview notes and support a human panel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candidate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and Teams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Same core questions for every 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Structured interview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candidate_id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question_id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Same core questions for every 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Panel members score independently before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CAND-01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panel_note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04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Structured interview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Anchored panel scorecard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Candidate communication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Lab-04-Evidence-Workbook.xlsx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4: Prepare and Review Structured Interviews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prepare job-related structured questions, organise synthetic interview notes and support a human panel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The recruiter shortlisted three candidates in Lab 3. Managers currently improvise interview questions, take incomplete notes and struggle to compare evidence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and Teams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Structured interview guide
• Anchored panel scorecard
• Candidate communication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Same core questions for every candidate
• No emotion or personality inference
• Panel members score independently before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4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8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journey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due offset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journey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Pre-boarding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personal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HR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Pre-boarding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Order laptop and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IT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ONB-03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Day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Safety orientation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Safety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Not started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onboarding coordination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task_id and journey_stage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Copilot Studio onboarding agent that coordinates routine work while retaining accountable task owners and human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task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Use approved role and policy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30-day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task_id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journey_stage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Use approved role and policy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 human owner confirms every 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ONB-01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05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30-day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conversation and tool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Onboarding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Lab-05-Evidence-Workbook.xlsx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5: Automate Onboarding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onboarding agent that coordinates routine work while retaining accountable task owners and human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selected synthetic candidate joins HarbourLight as the Workforce Operations Analyst. Equipment, access, safety training and manager check-ins are currently coordinated through emails and spreadsheets, causing missed tasks and repeated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Teams
• SharePoint
• Power Automate or agent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30-day journey
• Agent conversation and tool map
• Onboarding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approved role and policy data
• Least-privilege connectors
• A human owner confirms every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5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role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evidence level 1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interest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manager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consent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role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evidence level 1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interest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consent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Demand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Advanced forecasting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Stakeholder communication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EMP-204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Dashboard quality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Power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create a personalised talent development journey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employee_id and role_outcome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and a bounded development agent to identify evidence-based skill gaps, prepare learning options and automate routine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365 Copilot in Word and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can correct the skills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Skills evidence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employee_id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role_outcome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 can correct the skills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Manager and employee choose the final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consent_status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06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Skills evidence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90-day development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Development-agent instructions and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Save in Lab-06-Evidence-Workbook.xlsx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Lab 6: Create a Personalised Talent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and a bounded development agent to identify evidence-based skill gaps, prepare learning options and automate routine follow-up.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After onboarding, the new analyst and two existing employees need different development pathways. HR currently assembles courses manually and managers lack a consistent skills-conversation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365 Copilot in Word and Teams
• Agent Builder in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Skills evidence summary
• 90-day development plan
• Development-agent instructions and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can correct the skills record
• No deterministic potential ranking
• Manager and employee choose the final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6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2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LEARNING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Choose the build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Builder is fast for team knowledge; Copilot Studio supports broader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 Builder: focused Q&amp;A and team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Copilot Studio: tools, flows, channels and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Copy an agent to extend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Licensing and governance remain design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Builder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useful team agent has a narrow purpose and authoritative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Name the audience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Ground in selected SharePoint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Add response and refusal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Share only with intended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 Studio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Topic or generative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Approved knowledge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Actions and connectors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Authentication, analytics and 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Integrate with the HR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become useful when identity, HRIS data, workflows and monitoring are deliberately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HRIS and policy repositories remain authoritative systems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Identity and permissions restrict personal data and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Connectors and APIs expose only bounded, validated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Logging, fallback and human support make failures recoverable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Knowledge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answer should be traceable to the current approved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Curate source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Remove obsolete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Respect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citation, effective date and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106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Instructions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instructions are an operating policy, not marketing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in-scope intents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State prohibited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Specify clarification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Require confirmation before consequential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Tools and agent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least-privilege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inputs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Add human approval for consequential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Write outcome and error to an audit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policy agent should answer, cite, qualify and escalate.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Recognise the employee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Retrieve the exact current 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Explain in plain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Escalate ambiguity or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onboarding agent coordinates milestones without inventing employment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Personalise from approved role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Trigger task owners and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exceptions and access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Route sensitive questions to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Leave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gathers intent; a governed workflow validates and records the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Check balance and policy eligibility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Confirm dates and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Route manager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Update system and notify with audit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Benefits, payroll and case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Handle common policy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Retrieve authorised personal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Never expose another employee's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Escalate disputed or sensitive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Offboarding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Offboarding requires coordination, access control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Confirm final date and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Trigger asset and access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Capture knowledge-transfer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Close only after owner confirmations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conversations, actions, permissions and recovery—not only happy-path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Normal and ambiguous intents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Prompt injection and data exfiltration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Connector failures and duplicate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Escalation, rollback and audit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6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source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policy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rule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effective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policy 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rule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effective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issue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POL-2025-01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Hybrid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Up to two remote days with manager agreement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2025-01-01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Current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GUIDE-OLD-04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Hybrid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One remote day after probation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2024-04-01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Superseded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FAQ-17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Equipment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Employees may take assigned laptop home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2025-06-01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Current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116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draft and operate an hr policy agent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source_id and policy_topic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Word Copilot to reconcile a controlled policy draft, then build an Agent Builder policy Q&amp;A agent that cites the approved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source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Word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Policy owner approves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Conflict register and policy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source_id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policy_topic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Policy owner approves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Ambiguous and sensitive cases 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POL-2025-01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07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Conflict register and policy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instructions and knowledge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8-case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Lab-07-Evidence-Workbook.xlsx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121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7: Draft and Operate an 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reconcile a controlled policy draft, then build an Agent Builder policy Q&amp;A agent that cites the approved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Hybrid-work and conduct guidance exists in conflicting files. HR repeatedly answers the same questions and managers sometimes apply outdated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Agent Builder in Microsoft 365 Copilot
• SharePoint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Conflict register and policy draft
• Agent instructions and knowledge map
• 8-case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Policy owner approves meaning
• Answers cite effective policy
• Ambiguous and sensitive cases 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7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5 records  •  9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request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leave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start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end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balance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overlap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6472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904487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request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request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leave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start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request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Annual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EMP-204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Annual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LV-003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EMP-318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Medical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2026-09-10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Draft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leave application and approval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request_id and employee_id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Build a Copilot Studio leave agent plus deterministic approval flow for validation, confirmation, update and notification.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126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request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Employee confirms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Agent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127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request_id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employee_id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 confirms 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Idempotency prevents duplicate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LV-001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request_status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08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Leave approval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Audit log and exception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Lab-08-Evidence-Workbook.xlsx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8: Automate Leave Application and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Build a Copilot Studio leave agent plus deterministic approval flow for validation, confirmation, update and notification.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Employees message leave dates to HR, which rekeys requests into a tracker and follows up with managers. Balance errors, overlaps and duplicate submissions create avoidable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Agent flows or Power Automate
• Teams
• Excel or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instructions
• Leave approval flow
• Audit log and exception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confirms before submission
• Manager owns exceptions
• Idempotency prevents duplicate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131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8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intent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data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authentication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approved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expected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risk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intent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employee intent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authentication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risk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What outpatient coverage is included?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General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Check effective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Am I enrolled in dental coverage?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Personal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Least privilege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BEN-03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Why was my claim rejected?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Sensitive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No final entitlement advice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build a benefits self-service agent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intent_id and employee_intent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benefits agent that answers grounded general questions, retrieves authorised status and escalates consequential or sensitive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135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intent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General answers cite approved plan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Benefits intent-and-risk catalogue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136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intent_id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employee_intent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General answers cite approved plan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No medical, legal or final entitlement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137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BEN-01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risk_note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138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09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Benefits intent-and-risk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Knowledge and tool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Privacy and regression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8C5C"/>
                </a:solidFill>
                <a:latin typeface="Aptos"/>
              </a:rPr>
              <a:t>Save in Lab-09-Evidence-Workbook.xlsx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139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9: Build a Benefits Self-Service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benefits agent that answers grounded general questions, retrieves authorised status and escalates consequential or sensitive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HR answers repetitive benefits questions by email and manually checks plan documents. Employees need fast information, but personal eligibility and claims require authenticated data and specialist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SharePoint
• Teams
• HRIS sandbox or mock connector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Benefits intent-and-risk catalogue
• Knowledge and tool design
• Privacy and regression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General answers cite approved plan documents
• Personal requests require authentication
• No medical, legal or final entitlement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9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3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LEARNING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HR AI is high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Employment decisions affect opportunity, income, dignity and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Recruitment and promotion shape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Performance evidence can be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data is 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Power asymmetry raises consent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Human involvement by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More consequential and less reversible decisions need stronger human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Inform: AI drafts or retrieves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Recommend: AI proposes with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Approve: authorised human decides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Execute: agent acts only within approved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145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HR efficiency to enterprise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strongest human-AI partnerships deliver better workforce solutions, speed and business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Workforce solutions become more personalised and responsive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Agile portfolio management reduces time from need to usable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Administrative capacity shifts to strategic and business-facing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AI and technology fluency becomes a capability across HR, not an HRIS silo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146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implementation case vignettes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supplied ebook illustrates value across recruitment, engagement, talent and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Technology: screening and candidate chat; reported 30% faster hiring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Retail: feedback analysis; reported 20% lower turnover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Financial services: predictive talent and succession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Healthcare: timely evidence for coaching and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What successful implementations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Technology works when objectives, people, monitoring and cross-functional ownership reinforce one another.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Start with a clear employee or business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Involve employees early in design, testing and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Continuously monitor quality, bias, drift and unintended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Pair HR process ownership with IT, legal, security and data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Minimise data before asking a model to protect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Purpose and lawful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Minimum necessary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Access, retention and deletion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Incident and data-subject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149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Fair hiring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Fairly consider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Exclude non-job-related protected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Keep interview and decision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Provide human challenge and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Bias is a system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Bias can enter through objectives, data, prompts, tools and human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Question proxy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outcomes across relevant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Review false positives and negatives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Change process, not only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Transparency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Employees need to know when AI is used and how to seek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Disclose the AI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Show source and material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Explain limits and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Provide an accessible human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Security and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be manipulated through the text it 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Treat retrieved content as untrusted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Separate instructions from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Allow-list tools and destinations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Monitor anomalous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153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identity and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named service or user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Grant only required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maker, approver and operator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access and dormant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154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are digital workers that need owners, logs, limits and retirement.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Named business and technical owners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Versioned instructions and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Run-time monitoring and kill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Periodic validation and decommissioning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Measure service, adoption, quality, risk and human value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Cycle time and first-contact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Accuracy and evidence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 and override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trust and time returned to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156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Change and AI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Adoption depends on role clarity and practical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Explain what changes and what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Train prompting, review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Create champions and feedback loops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Recognise new work: agent owner, tester, steward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157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Build HR's AI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needs literacy, ethical judgement, product thinking and change leadership to operate AI well.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Teach AI capabilities, limitations and evidence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Establish privacy, fairness and responsible-use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Create cross-functional teams for design and sustainment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Communicate role changes and build continuous learning into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90-day responsible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from a bounded pilot to an owned capability through evidence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1–30: baseline, risk and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31–60: test, controls and user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61–90: measured pilot and operating handover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Scale only when value and control thresholds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159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6 records  •  7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survey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wellbeing score 1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avg weekly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absence days per fte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manager support 1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data quality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survey 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wellbeing score 1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avg weekly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data quality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Hub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Customer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3.4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Small sample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161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use ai for workforce wellness insights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team and survey_n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Copilot to analyse aggregated wellness evidence, identify organisational questions and prepare human-led interventions.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162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 with Microsoft 365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Aggregate and minimise personal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Aggregated wellness dashboard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team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survey_n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Aggregate and minimise personal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Employees have a clear human support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164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Hub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data_quality_note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Aggregated wellness dashboard brief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Evidence-and-limitation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Human-led intervention proposal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Lab-10-Evidence-Workbook.xlsx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10: Use AI for Workforce Wellness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analyse aggregated wellness evidence, identify organisational questions and prepare human-led interventions.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has pulse surveys, absence patterns and workload data, but HR spends days combining them. Leaders want early signals without monitoring or diagnosing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Aggregated wellness dashboard brief
• Evidence-and-limitation log
• Human-led intervention proposal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 and minimise personal data
• No diagnosis or individual risk scoring
• Employees have a clear human support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167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10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8 records  •  8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task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offboarding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due offset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approval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failure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169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task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offboarding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due offset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failure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exit event and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HR Partner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Cancelled 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Agree knowledge transfer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Line 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Missing handover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OFF-03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Confirm asset inventory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Facilities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-5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Missing laptop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automate safe employee offboarding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task_id and offboarding_outcome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Design a Copilot Studio offboarding agent and controlled flow that reduces follow-up while preserving separation of duties and respectful communication.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171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task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 Copilot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Confirmed exit event before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Offboarding journey and RACI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172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task_id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offboarding_outcome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Confirmed exit event before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Knowledge and personal data retention are purpose-limited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173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OFF-01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failure_test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174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Offboarding journey and RACI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Tool and approval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Security, privacy and failure test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Lab-11-Evidence-Workbook.xlsx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175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11: Automate Safe Employee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offboarding agent and controlled flow that reduces follow-up while preserving separation of duties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synthetic employee is leaving HarbourLight. HR currently coordinates payroll, assets, access, knowledge transfer and exit communication through separate emails, creating missed tasks and security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Power Automate or agent flows
• Teams
• SharePoint
•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Offboarding journey and RACI
• Tool and approval map
• Security, privacy and failure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Confirmed exit event before action
• Separate HR, payroll, asset and access approvals
• Knowledge and personal data retention are purpose-limited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177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Source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 the supplied synthetic CSV before asking Copilot to reason over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mock-data.csv  •  9 records  •  9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baseline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current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1874519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002536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accuracy pct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escalation pct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employee trust 1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open 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2825496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953512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6472"/>
            <a:ext cx="2596896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904487"/>
            <a:ext cx="2304288" cy="4572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Aptos"/>
              </a:rPr>
              <a:t>recommended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Source boundary  →  Synthetic records only; verify row IDs and field meaning before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178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Evidence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Compare the output against real rows in the supplied lab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baseline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current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5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accuracy pct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1508760"/>
            <a:ext cx="2121408" cy="548640"/>
          </a:xfrm>
          <a:prstGeom prst="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7" y="1627632"/>
            <a:ext cx="1901952" cy="3383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recommended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Talent needs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480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2148840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Scale with data-quality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JD Copilot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9" y="3099816"/>
            <a:ext cx="2121408" cy="85953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209544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Screening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7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720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260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19" y="4050791"/>
            <a:ext cx="2121408" cy="85953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160520"/>
            <a:ext cx="1938528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Aptos"/>
              </a:rPr>
              <a:t>Remediate fairness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Evidence check  →  Point to the source row and column before accepting a summary or recommendation.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179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Prompt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named fields, a bounded task and a verifiable output shape.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40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Act as an HR analyst for the synthetic capstone: operate the hr agent control room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76856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86584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only mock-data.csv; cite solution and baseline_minutes for each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10128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Use lifecycle, service, risk, adoption and human-value evidence to govern the full HR AI operating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23944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0248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33672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Return a table: source record | observation | uncertainty | recommendation | human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47488"/>
            <a:ext cx="106984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STOP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157216"/>
            <a:ext cx="88239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Write UNKNOWN when evidence is missing. Do not take a consequential HR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Controlled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or Copilot prepares evidence; an authorised person controls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No scale without control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HR process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43200"/>
            <a:ext cx="2286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03120"/>
            <a:ext cx="1783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743200"/>
            <a:ext cx="1737360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End-to-end HR AI service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47488"/>
            <a:ext cx="105156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Audit trail: source ID → prompt/instructions → output → verification → approval → final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181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claim passes only when the source, control and reviewer agree.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6362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Match solution to the CSV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6362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Row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6090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Interpret baseline_minutes using the scenario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6090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No invented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5818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No scale without control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75818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Human check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06984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12801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55464"/>
            <a:ext cx="62179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Named owner and retirement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55464"/>
            <a:ext cx="242316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Escalate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182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Exception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normal and failure paths before a learner marks the solution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44752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Talent needs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Grounded result with source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03704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22576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recommended_decision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22576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Clarify or mark UNKNOWN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1528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Unauthorised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Cross-employee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Refuse and escalate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9352"/>
            <a:ext cx="10835640" cy="722376"/>
          </a:xfrm>
          <a:prstGeom prst="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78224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Tool/connector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78224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No false success; retain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37176"/>
            <a:ext cx="10835640" cy="722376"/>
          </a:xfrm>
          <a:prstGeom prst="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25880" cy="2834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56048"/>
            <a:ext cx="3749039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Same request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56048"/>
            <a:ext cx="489204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One action or safe rejection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98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Pass only with recorded actual result, reviewer and evidence reference.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183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|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Submit a traceable artifact, not a polished output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End-to-end HR AI service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Agent scorecard and incident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70408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6583680" cy="4297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90-day roadmap and executive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24612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10512"/>
            <a:ext cx="26517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7E20"/>
                </a:solidFill>
                <a:latin typeface="Aptos"/>
              </a:rPr>
              <a:t>RELEASE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40864"/>
            <a:ext cx="2651760" cy="22677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Aptos"/>
              </a:rPr>
              <a:t>Source linked
Uncertainty stated
Human owner named
Failure case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E7E20"/>
                </a:solidFill>
                <a:latin typeface="Aptos"/>
              </a:rPr>
              <a:t>Save in Lab-12-Evidence-Workbook.xlsx  •  include prompt, output, checks and revision.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184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12: Capstone: Operate the HR Agent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lifecycle, service, risk, adoption and human-value evidence to govern the full HR AI operating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now uses generative AI and agents across talent planning, hiring, onboarding, development, policy, leave, benefits, wellness and offboarding. Leaders must decide what to scale, remediate, pause or retire.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
• Teams
• Microsoft 365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End-to-end HR AI service map
• Agent scorecard and incident response
• 90-day roadmap and executive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scale without control thresholds
• Employee feedback included
• Named owner and retirement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lab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185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Lab 12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186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187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balanced HR AI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Speed is useful only when quality, trust and control remain healthy.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5448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56616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828800"/>
            <a:ext cx="2926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READ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2331720"/>
            <a:ext cx="2880360" cy="2514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 lower cycle time cannot compensate for weak evidence, falling trust or missing approvals. Pair one value metric with at least one quality and one risk guardrail.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188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One operating system, many employee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Attract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Workforce planning, job design, recruitment and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Onboarding, access, policy and manager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Performance, learning, mobility and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Leave, benefits, payroll and employee relations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Offboarding, access, assets and knowledge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Metrics, incidents, governance and retirement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responsible-agent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remain a managed organisational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1.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Service, quality, adoption and risk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2.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Human owner inspects evidence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3.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Update knowledge, instructions, tools or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4.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Regression, fairness, security and user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5.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Scale, remediate, pause or retire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90-day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through evidence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Baseline • use-case boundary • privacy/risk review •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31–60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Test • human controls • user feedback • operating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Measured pilot • incident rehearsal • scale decision •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191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AI to return HR capacity to people and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Reduce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Remove repetitive search, drafting, rekeying and follow-up.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Improve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Deliver faster, more consistent and evidence-led HR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Elevate HR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Redirect saved time to workforce strategy, coaching and employee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Govern the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Keep evidence, human authority, privacy and fairness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192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BEFORE YOU LEAVE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Pick one HR workflow to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Tell your trainer what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670048"/>
            <a:ext cx="36576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938528"/>
            <a:ext cx="28803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0071BC"/>
                </a:solidFill>
                <a:latin typeface="Aptos"/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61488"/>
            <a:ext cx="269748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Complete the feedback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736592"/>
            <a:ext cx="10058400" cy="768096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937760"/>
            <a:ext cx="9555480" cy="3566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C2430"/>
                </a:solidFill>
                <a:latin typeface="Aptos"/>
              </a:rPr>
              <a:t>Trainer shares the feedback link  →  learner completes the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833872"/>
            <a:ext cx="100584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4363E"/>
                </a:solidFill>
                <a:latin typeface="Aptos"/>
              </a:rPr>
              <a:t>Questions after class: enquiry@tertiaryinfotech.com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193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HR AI that gives people better service and humans better judgement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Microsoft Copilot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C820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LMS/TMS course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C820  |  Microsoft Copilot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